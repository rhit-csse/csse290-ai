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93" r:id="rId2"/>
    <p:sldId id="502" r:id="rId3"/>
    <p:sldId id="504" r:id="rId4"/>
    <p:sldId id="506" r:id="rId5"/>
    <p:sldId id="507" r:id="rId6"/>
    <p:sldId id="505" r:id="rId7"/>
    <p:sldId id="508" r:id="rId8"/>
    <p:sldId id="483" r:id="rId9"/>
    <p:sldId id="503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01" r:id="rId18"/>
    <p:sldId id="257" r:id="rId19"/>
    <p:sldId id="264" r:id="rId20"/>
    <p:sldId id="263" r:id="rId21"/>
    <p:sldId id="262" r:id="rId22"/>
    <p:sldId id="258" r:id="rId23"/>
    <p:sldId id="259" r:id="rId24"/>
    <p:sldId id="51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4D0AC0-BF02-DCDE-5EC7-DFC1D51C0CC5}" name="Stouder, Amanda" initials="AS" userId="S::stouder@rose-hulman.edu::b8557d91-4bf8-48b0-be53-5d77889e817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chel Krohn" initials="RK" lastIdx="2" clrIdx="0">
    <p:extLst>
      <p:ext uri="{19B8F6BF-5375-455C-9EA6-DF929625EA0E}">
        <p15:presenceInfo xmlns:p15="http://schemas.microsoft.com/office/powerpoint/2012/main" userId="Rachel Kroh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B19242"/>
    <a:srgbClr val="061E3F"/>
    <a:srgbClr val="E0D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045" autoAdjust="0"/>
  </p:normalViewPr>
  <p:slideViewPr>
    <p:cSldViewPr snapToGrid="0">
      <p:cViewPr varScale="1">
        <p:scale>
          <a:sx n="84" d="100"/>
          <a:sy n="84" d="100"/>
        </p:scale>
        <p:origin x="157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6A2EE-B5F6-484E-BC83-5FA03CF2453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2B47B-5F65-4943-85BA-3F697B157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8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https://www.promptingguide.ai/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2B47B-5F65-4943-85BA-3F697B1575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17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issues with GPT5’s release and how they said they were going to limit access to the old ones. And everyone was out of luck until there was a big enough backlash against the company, but there’s no guarantee that happens.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2B47B-5F65-4943-85BA-3F697B1575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22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2B47B-5F65-4943-85BA-3F697B1575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45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brainstorm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2B47B-5F65-4943-85BA-3F697B1575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4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727" y="-155642"/>
            <a:ext cx="12192000" cy="5194569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187" y="5498980"/>
            <a:ext cx="8014546" cy="44654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61E3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308187" y="2963333"/>
            <a:ext cx="9144000" cy="931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i="0" kern="1200" baseline="0">
                <a:solidFill>
                  <a:srgbClr val="061E3F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98459" y="2511245"/>
            <a:ext cx="10515600" cy="2264817"/>
          </a:xfrm>
        </p:spPr>
        <p:txBody>
          <a:bodyPr anchor="b"/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28" name="Picture 4" descr="Bakery Logo Request | Rose-Hulman">
            <a:extLst>
              <a:ext uri="{FF2B5EF4-FFF2-40B4-BE49-F238E27FC236}">
                <a16:creationId xmlns:a16="http://schemas.microsoft.com/office/drawing/2014/main" id="{A43ED09B-141B-4ABA-A6EB-D28CD146CA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327" y="5299054"/>
            <a:ext cx="1140347" cy="140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37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41"/>
            <a:ext cx="12192000" cy="1361439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4813"/>
            <a:ext cx="11115674" cy="79248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2105"/>
            <a:ext cx="11115675" cy="4574858"/>
          </a:xfrm>
        </p:spPr>
        <p:txBody>
          <a:bodyPr/>
          <a:lstStyle>
            <a:lvl1pPr marL="287338" indent="-287338">
              <a:buFont typeface="Arial" panose="020B0604020202020204" pitchFamily="34" charset="0"/>
              <a:buChar char="•"/>
              <a:defRPr/>
            </a:lvl1pPr>
            <a:lvl2pPr marL="744538" indent="-287338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2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5085806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526451"/>
            <a:ext cx="10515600" cy="403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606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91BA6-B931-21BF-991A-4BFE9E5BC108}"/>
              </a:ext>
            </a:extLst>
          </p:cNvPr>
          <p:cNvSpPr/>
          <p:nvPr userDrawn="1"/>
        </p:nvSpPr>
        <p:spPr>
          <a:xfrm>
            <a:off x="0" y="41"/>
            <a:ext cx="12192000" cy="1361439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7F9817-EBC4-BE5C-1617-2D24CA553828}"/>
              </a:ext>
            </a:extLst>
          </p:cNvPr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0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12CEE3-F712-9867-4DFF-CA25B434E321}"/>
              </a:ext>
            </a:extLst>
          </p:cNvPr>
          <p:cNvSpPr/>
          <p:nvPr userDrawn="1"/>
        </p:nvSpPr>
        <p:spPr>
          <a:xfrm>
            <a:off x="0" y="41"/>
            <a:ext cx="12192000" cy="1361439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C6025-242F-96C5-04DE-2A5CDA9A8850}"/>
              </a:ext>
            </a:extLst>
          </p:cNvPr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8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EE5D7-DD65-09A5-D0DB-AEE23110AFDD}"/>
              </a:ext>
            </a:extLst>
          </p:cNvPr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32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603E54-E685-515C-E22F-67A3605E29B9}"/>
              </a:ext>
            </a:extLst>
          </p:cNvPr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7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60AA10-C2F0-7764-EFAE-F4C712B0B6A6}"/>
              </a:ext>
            </a:extLst>
          </p:cNvPr>
          <p:cNvSpPr/>
          <p:nvPr userDrawn="1"/>
        </p:nvSpPr>
        <p:spPr>
          <a:xfrm>
            <a:off x="0" y="41"/>
            <a:ext cx="12192000" cy="1361439"/>
          </a:xfrm>
          <a:prstGeom prst="rect">
            <a:avLst/>
          </a:prstGeom>
          <a:solidFill>
            <a:srgbClr val="800000"/>
          </a:solidFill>
          <a:ln>
            <a:solidFill>
              <a:srgbClr val="061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FCC60-C02A-A8AB-68EA-A226450032DF}"/>
              </a:ext>
            </a:extLst>
          </p:cNvPr>
          <p:cNvSpPr/>
          <p:nvPr userDrawn="1"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rgbClr val="800000"/>
          </a:solidFill>
          <a:ln>
            <a:solidFill>
              <a:srgbClr val="B19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tabLst>
                <a:tab pos="233363" algn="l"/>
                <a:tab pos="11658600" algn="r"/>
              </a:tabLst>
            </a:pPr>
            <a:r>
              <a:rPr lang="en-US" dirty="0"/>
              <a:t>	</a:t>
            </a:r>
            <a:r>
              <a:rPr lang="en-US" baseline="0" dirty="0"/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56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llum.ai/blog/gpt-5-prompting-guid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oud.google.com/architecture/multiagent-ai-system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86C1-D93F-4760-BBD6-CE8E28BC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9" y="435363"/>
            <a:ext cx="11537941" cy="4024342"/>
          </a:xfrm>
        </p:spPr>
        <p:txBody>
          <a:bodyPr anchor="t">
            <a:noAutofit/>
          </a:bodyPr>
          <a:lstStyle/>
          <a:p>
            <a:r>
              <a:rPr lang="en-US" sz="9600" dirty="0"/>
              <a:t>Maintenance</a:t>
            </a:r>
            <a:br>
              <a:rPr lang="en-US" sz="9600" dirty="0"/>
            </a:br>
            <a:r>
              <a:rPr lang="en-US" sz="9600" dirty="0"/>
              <a:t>Course Wrap-Up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CE03C5-A9C5-30C1-3BDA-2E8F19186E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Attendance Key: </a:t>
            </a:r>
            <a:r>
              <a:rPr lang="en-US" dirty="0" err="1"/>
              <a:t>bhilxp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0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9006-AC9F-2E9B-F949-8A050ADB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F1236-91C5-E019-80E7-1B72965A3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bhilxp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59592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9C18-28DC-FDFD-05DE-9EDF053B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to my model over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0E5BC-AE69-39E3-41FE-10B843D8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doesn’t have a hard “done”… basically ever</a:t>
            </a:r>
          </a:p>
          <a:p>
            <a:endParaRPr lang="en-US" dirty="0"/>
          </a:p>
          <a:p>
            <a:r>
              <a:rPr lang="en-US" dirty="0"/>
              <a:t>Yes, you may stop writing code, but:</a:t>
            </a:r>
          </a:p>
          <a:p>
            <a:pPr lvl="1"/>
            <a:r>
              <a:rPr lang="en-US" dirty="0"/>
              <a:t>Hardware changes over time</a:t>
            </a:r>
          </a:p>
          <a:p>
            <a:pPr lvl="1"/>
            <a:r>
              <a:rPr lang="en-US" dirty="0"/>
              <a:t>Software you integrate with changes</a:t>
            </a:r>
          </a:p>
          <a:p>
            <a:pPr lvl="1"/>
            <a:r>
              <a:rPr lang="en-US" i="1" dirty="0"/>
              <a:t>Laws</a:t>
            </a:r>
            <a:r>
              <a:rPr lang="en-US" dirty="0"/>
              <a:t> change</a:t>
            </a:r>
          </a:p>
          <a:p>
            <a:pPr lvl="1"/>
            <a:r>
              <a:rPr lang="en-US" dirty="0"/>
              <a:t>Customers ask for new things</a:t>
            </a:r>
          </a:p>
          <a:p>
            <a:pPr lvl="1"/>
            <a:endParaRPr lang="en-US" dirty="0"/>
          </a:p>
          <a:p>
            <a:r>
              <a:rPr lang="en-US" dirty="0"/>
              <a:t>And now… a new LLM model is released every other week! (</a:t>
            </a:r>
            <a:r>
              <a:rPr lang="en-US" dirty="0" err="1"/>
              <a:t>ish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Can you keep using your old model? Maybe, ask Sam Altman, he decides!</a:t>
            </a:r>
          </a:p>
        </p:txBody>
      </p:sp>
    </p:spTree>
    <p:extLst>
      <p:ext uri="{BB962C8B-B14F-4D97-AF65-F5344CB8AC3E}">
        <p14:creationId xmlns:p14="http://schemas.microsoft.com/office/powerpoint/2010/main" val="140398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0982-92A6-03B1-D16D-3091AA2F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deal with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FDEC-10F6-538D-7501-6C3DB655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 ahead! </a:t>
            </a:r>
          </a:p>
          <a:p>
            <a:endParaRPr lang="en-US" dirty="0"/>
          </a:p>
          <a:p>
            <a:r>
              <a:rPr lang="en-US" dirty="0"/>
              <a:t>Project plans (and risks) must include LLM model change</a:t>
            </a:r>
          </a:p>
          <a:p>
            <a:endParaRPr lang="en-US" dirty="0"/>
          </a:p>
          <a:p>
            <a:r>
              <a:rPr lang="en-US" dirty="0"/>
              <a:t>What does this mean?</a:t>
            </a:r>
          </a:p>
          <a:p>
            <a:pPr lvl="1"/>
            <a:r>
              <a:rPr lang="en-US" dirty="0"/>
              <a:t>Potentially adjusting parameters (like reasoning) for new models</a:t>
            </a:r>
          </a:p>
          <a:p>
            <a:pPr lvl="1"/>
            <a:r>
              <a:rPr lang="en-US" dirty="0"/>
              <a:t>Prompt tuning when switching models</a:t>
            </a:r>
          </a:p>
          <a:p>
            <a:pPr lvl="1"/>
            <a:endParaRPr lang="en-US" dirty="0"/>
          </a:p>
          <a:p>
            <a:r>
              <a:rPr lang="en-US" dirty="0"/>
              <a:t>More info: </a:t>
            </a:r>
            <a:r>
              <a:rPr lang="en-US" dirty="0">
                <a:hlinkClick r:id="rId2"/>
              </a:rPr>
              <a:t>https://www.vellum.ai/blog/gpt-5-prompting-guide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901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7DF1-FF8B-AA1F-A139-FB5C8A6E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sounds like a lot of work…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1D3F-18F5-821A-A5C3-C9AF4A9F9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that different from most software</a:t>
            </a:r>
          </a:p>
          <a:p>
            <a:endParaRPr lang="en-US" dirty="0"/>
          </a:p>
          <a:p>
            <a:pPr lvl="1"/>
            <a:r>
              <a:rPr lang="en-US" dirty="0"/>
              <a:t>Operating system changes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Security Patch Deployments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Etc. </a:t>
            </a:r>
          </a:p>
          <a:p>
            <a:pPr lvl="1"/>
            <a:endParaRPr lang="en-US" dirty="0"/>
          </a:p>
          <a:p>
            <a:r>
              <a:rPr lang="en-US" dirty="0"/>
              <a:t>Key thing about Software Engineering and Software: </a:t>
            </a:r>
          </a:p>
          <a:p>
            <a:pPr lvl="1"/>
            <a:r>
              <a:rPr lang="en-US" dirty="0"/>
              <a:t>They’re always changing, so there’s always a new challenge!</a:t>
            </a:r>
          </a:p>
        </p:txBody>
      </p:sp>
    </p:spTree>
    <p:extLst>
      <p:ext uri="{BB962C8B-B14F-4D97-AF65-F5344CB8AC3E}">
        <p14:creationId xmlns:p14="http://schemas.microsoft.com/office/powerpoint/2010/main" val="126352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2ED8-1F0C-2541-5E3C-EF638BE1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Ok, but my ML model is safe, right?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5EB7B-65D4-1680-3DF2-48E4D28E6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Nope!</a:t>
            </a:r>
          </a:p>
          <a:p>
            <a:endParaRPr lang="en-US" dirty="0"/>
          </a:p>
          <a:p>
            <a:r>
              <a:rPr lang="en-US" dirty="0"/>
              <a:t>Some ML models may be more stable than others:</a:t>
            </a:r>
          </a:p>
          <a:p>
            <a:pPr lvl="1"/>
            <a:r>
              <a:rPr lang="en-US" dirty="0"/>
              <a:t>Image recognition models </a:t>
            </a:r>
          </a:p>
          <a:p>
            <a:pPr lvl="2"/>
            <a:r>
              <a:rPr lang="en-US" dirty="0"/>
              <a:t>What LEGO is this?</a:t>
            </a:r>
          </a:p>
          <a:p>
            <a:pPr lvl="2"/>
            <a:r>
              <a:rPr lang="en-US" dirty="0"/>
              <a:t>Is that a dog?</a:t>
            </a:r>
          </a:p>
          <a:p>
            <a:pPr lvl="2"/>
            <a:endParaRPr lang="en-US" dirty="0"/>
          </a:p>
          <a:p>
            <a:r>
              <a:rPr lang="en-US" dirty="0"/>
              <a:t>Some ML models may need frequent retraining</a:t>
            </a:r>
          </a:p>
          <a:p>
            <a:pPr lvl="1"/>
            <a:r>
              <a:rPr lang="en-US" dirty="0"/>
              <a:t>PPE sales in 2019 vs 2020, 2021, etc. </a:t>
            </a:r>
          </a:p>
          <a:p>
            <a:pPr lvl="1"/>
            <a:r>
              <a:rPr lang="en-US" dirty="0"/>
              <a:t>Outside factors will affect the data, even if the features used to train don’t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67EE-34B6-5175-3E05-E59A57A5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 in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89C4-1B7A-FCAE-D369-1D159F1BD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Who knows really?</a:t>
            </a:r>
          </a:p>
          <a:p>
            <a:r>
              <a:rPr lang="en-US" dirty="0"/>
              <a:t>Companies are pushing </a:t>
            </a:r>
            <a:r>
              <a:rPr lang="en-US" b="1" dirty="0"/>
              <a:t>multi-agent systems</a:t>
            </a:r>
            <a:r>
              <a:rPr lang="en-US" dirty="0"/>
              <a:t>, such as:</a:t>
            </a:r>
          </a:p>
          <a:p>
            <a:pPr lvl="1"/>
            <a:r>
              <a:rPr lang="en-US" dirty="0">
                <a:hlinkClick r:id="rId2"/>
              </a:rPr>
              <a:t>https://cloud.google.com/architecture/multiagent-ai-system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Diagram isn’t that unfamiliar</a:t>
            </a:r>
          </a:p>
          <a:p>
            <a:pPr lvl="1"/>
            <a:r>
              <a:rPr lang="en-US" dirty="0"/>
              <a:t>Think multi-processing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FF815-A30A-CA2E-42FC-7BDA7187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57782"/>
            <a:ext cx="6043457" cy="649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7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9644-ECBB-A801-2A3B-7F7D3C8A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58C6-1DB4-446C-D59E-95CE091EB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big things you learned this term?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4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B252-4202-A7BB-6D2B-D440EE5B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–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277B-8024-7800-CFC6-8AF459F4A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LLMs, and what are their strengths?</a:t>
            </a:r>
          </a:p>
          <a:p>
            <a:pPr lvl="1"/>
            <a:r>
              <a:rPr lang="en-US" dirty="0"/>
              <a:t>Guessing plausible completions based on context</a:t>
            </a:r>
          </a:p>
          <a:p>
            <a:pPr lvl="1"/>
            <a:r>
              <a:rPr lang="en-US" dirty="0"/>
              <a:t>Good at adapting to input from local situation</a:t>
            </a:r>
          </a:p>
          <a:p>
            <a:pPr lvl="1"/>
            <a:endParaRPr lang="en-US" dirty="0"/>
          </a:p>
          <a:p>
            <a:r>
              <a:rPr lang="en-US" dirty="0"/>
              <a:t>Tools Include:</a:t>
            </a:r>
          </a:p>
          <a:p>
            <a:pPr lvl="1"/>
            <a:r>
              <a:rPr lang="en-US" dirty="0"/>
              <a:t>Autocompletion</a:t>
            </a:r>
          </a:p>
          <a:p>
            <a:pPr lvl="2"/>
            <a:r>
              <a:rPr lang="en-US" dirty="0"/>
              <a:t>Good for repetition, also good at generating absolute nonsense</a:t>
            </a:r>
          </a:p>
          <a:p>
            <a:pPr lvl="1"/>
            <a:r>
              <a:rPr lang="en-US" dirty="0"/>
              <a:t>Localized Edit</a:t>
            </a:r>
          </a:p>
          <a:p>
            <a:pPr lvl="2"/>
            <a:r>
              <a:rPr lang="en-US" dirty="0"/>
              <a:t>Edit only where cursor is, good for language syntax lookups</a:t>
            </a:r>
          </a:p>
          <a:p>
            <a:pPr lvl="1"/>
            <a:r>
              <a:rPr lang="en-US" dirty="0"/>
              <a:t>Interactive Agent Mode</a:t>
            </a:r>
          </a:p>
          <a:p>
            <a:pPr lvl="2"/>
            <a:r>
              <a:rPr lang="en-US" dirty="0"/>
              <a:t>Go-to tool for most coding activities, but you need to write LOTS of instructions</a:t>
            </a:r>
          </a:p>
          <a:p>
            <a:pPr lvl="2"/>
            <a:r>
              <a:rPr lang="en-US" dirty="0"/>
              <a:t>Give it context!</a:t>
            </a:r>
          </a:p>
          <a:p>
            <a:pPr lvl="2"/>
            <a:r>
              <a:rPr lang="en-US" dirty="0"/>
              <a:t>Always review any changes it makes!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03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E8FA-A969-E593-3FFE-DC6A6908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– Understanding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01165-3D78-E6A9-EBEE-DCE2E6CEF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Text Generation</a:t>
            </a:r>
          </a:p>
          <a:p>
            <a:endParaRPr lang="en-US" dirty="0"/>
          </a:p>
          <a:p>
            <a:r>
              <a:rPr lang="en-US" dirty="0"/>
              <a:t>Rely on huge amount of input data and compute</a:t>
            </a:r>
          </a:p>
          <a:p>
            <a:pPr lvl="1"/>
            <a:r>
              <a:rPr lang="en-US" dirty="0"/>
              <a:t>Data is running out</a:t>
            </a:r>
          </a:p>
          <a:p>
            <a:pPr lvl="1"/>
            <a:endParaRPr lang="en-US" dirty="0"/>
          </a:p>
          <a:p>
            <a:r>
              <a:rPr lang="en-US" dirty="0"/>
              <a:t>Pay attention to various models and their cost / features</a:t>
            </a:r>
          </a:p>
          <a:p>
            <a:pPr lvl="1"/>
            <a:r>
              <a:rPr lang="en-US" dirty="0"/>
              <a:t>Reasoning vs. not</a:t>
            </a:r>
          </a:p>
          <a:p>
            <a:pPr lvl="1"/>
            <a:r>
              <a:rPr lang="en-US" dirty="0"/>
              <a:t>Tokens = cost (tokens ~= words)</a:t>
            </a:r>
          </a:p>
          <a:p>
            <a:pPr lvl="1"/>
            <a:endParaRPr lang="en-US" dirty="0"/>
          </a:p>
          <a:p>
            <a:r>
              <a:rPr lang="en-US" dirty="0"/>
              <a:t>Models are good at grunt work, often overconfident and unreliable</a:t>
            </a:r>
          </a:p>
        </p:txBody>
      </p:sp>
    </p:spTree>
    <p:extLst>
      <p:ext uri="{BB962C8B-B14F-4D97-AF65-F5344CB8AC3E}">
        <p14:creationId xmlns:p14="http://schemas.microsoft.com/office/powerpoint/2010/main" val="378273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C602-12DF-7155-4999-4BA7D437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and 4 – 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CBD8-9265-0A92-55D4-0BDE0CB4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Engineer is essentially 371</a:t>
            </a:r>
          </a:p>
          <a:p>
            <a:endParaRPr lang="en-US" dirty="0"/>
          </a:p>
          <a:p>
            <a:r>
              <a:rPr lang="en-US" dirty="0"/>
              <a:t>Need to know what you want and </a:t>
            </a:r>
            <a:r>
              <a:rPr lang="en-US" b="1" dirty="0"/>
              <a:t>BE SPECIFIC</a:t>
            </a:r>
          </a:p>
          <a:p>
            <a:endParaRPr lang="en-US" b="1" dirty="0"/>
          </a:p>
          <a:p>
            <a:r>
              <a:rPr lang="en-US" dirty="0"/>
              <a:t>There are lots of prompt types out there</a:t>
            </a:r>
          </a:p>
          <a:p>
            <a:pPr lvl="1"/>
            <a:r>
              <a:rPr lang="en-US" dirty="0"/>
              <a:t>They’re changing all the time</a:t>
            </a:r>
          </a:p>
          <a:p>
            <a:pPr lvl="1"/>
            <a:r>
              <a:rPr lang="en-US" dirty="0"/>
              <a:t>Read about them when you’re having difficulty</a:t>
            </a:r>
          </a:p>
          <a:p>
            <a:pPr lvl="1"/>
            <a:r>
              <a:rPr lang="en-US" dirty="0"/>
              <a:t>Consider your chosen model and what may work best with it</a:t>
            </a:r>
          </a:p>
        </p:txBody>
      </p:sp>
    </p:spTree>
    <p:extLst>
      <p:ext uri="{BB962C8B-B14F-4D97-AF65-F5344CB8AC3E}">
        <p14:creationId xmlns:p14="http://schemas.microsoft.com/office/powerpoint/2010/main" val="125166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02E9-86EC-BF54-FC7E-B719A45F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 – Agent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806D2-513C-6D9F-7255-475440F9C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give agents lots of power</a:t>
            </a:r>
          </a:p>
          <a:p>
            <a:pPr lvl="1"/>
            <a:r>
              <a:rPr lang="en-US" dirty="0"/>
              <a:t>Unless you don’t like your database </a:t>
            </a:r>
          </a:p>
          <a:p>
            <a:pPr lvl="1"/>
            <a:endParaRPr lang="en-US" dirty="0"/>
          </a:p>
          <a:p>
            <a:r>
              <a:rPr lang="en-US" dirty="0"/>
              <a:t>Agents mostly shovel command-line to/from LLM</a:t>
            </a:r>
          </a:p>
          <a:p>
            <a:pPr lvl="1"/>
            <a:r>
              <a:rPr lang="en-US" dirty="0"/>
              <a:t>Ask my Visual Studio how well this works… </a:t>
            </a:r>
          </a:p>
          <a:p>
            <a:endParaRPr lang="en-US" dirty="0"/>
          </a:p>
          <a:p>
            <a:r>
              <a:rPr lang="en-US" dirty="0"/>
              <a:t>Best practices for writing code and testing?</a:t>
            </a:r>
          </a:p>
          <a:p>
            <a:pPr lvl="1"/>
            <a:r>
              <a:rPr lang="en-US" dirty="0"/>
              <a:t>Write the first unit test yourself</a:t>
            </a:r>
          </a:p>
          <a:p>
            <a:pPr lvl="1"/>
            <a:r>
              <a:rPr lang="en-US" dirty="0"/>
              <a:t>Be specific in your testing goals</a:t>
            </a:r>
          </a:p>
          <a:p>
            <a:pPr lvl="1"/>
            <a:r>
              <a:rPr lang="en-US" dirty="0"/>
              <a:t>Give Agent a Code Coverage tool, strip out excess code</a:t>
            </a:r>
          </a:p>
        </p:txBody>
      </p:sp>
    </p:spTree>
    <p:extLst>
      <p:ext uri="{BB962C8B-B14F-4D97-AF65-F5344CB8AC3E}">
        <p14:creationId xmlns:p14="http://schemas.microsoft.com/office/powerpoint/2010/main" val="294368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7711-4410-8061-4695-8801CE0C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 – Programmatic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77E31-A813-DEA9-7489-C9D0CF0D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any other Web API Usage</a:t>
            </a:r>
          </a:p>
          <a:p>
            <a:pPr lvl="1"/>
            <a:r>
              <a:rPr lang="en-US" dirty="0"/>
              <a:t>Include an API key in your system</a:t>
            </a:r>
          </a:p>
          <a:p>
            <a:pPr lvl="1"/>
            <a:r>
              <a:rPr lang="en-US" dirty="0"/>
              <a:t>Make a request to their web server (usually there’s a library to help)</a:t>
            </a:r>
          </a:p>
          <a:p>
            <a:pPr lvl="1"/>
            <a:endParaRPr lang="en-US" dirty="0"/>
          </a:p>
          <a:p>
            <a:r>
              <a:rPr lang="en-US" dirty="0"/>
              <a:t>Each request is “fresh”</a:t>
            </a:r>
          </a:p>
          <a:p>
            <a:endParaRPr lang="en-US" dirty="0"/>
          </a:p>
          <a:p>
            <a:r>
              <a:rPr lang="en-US" dirty="0"/>
              <a:t>Prompts may not translate to other models</a:t>
            </a:r>
          </a:p>
          <a:p>
            <a:endParaRPr lang="en-US" dirty="0"/>
          </a:p>
          <a:p>
            <a:r>
              <a:rPr lang="en-US" dirty="0"/>
              <a:t>May need some additional response parsing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56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970-B4F5-8C01-7350-47150873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7 –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B56CB-DD63-3E9D-D7C0-6621859A1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9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295C-13AF-A5D1-5D7F-C9E32793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F432-5166-6F6A-AF39-8509FAED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8 – LLMs as Business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AE45F-7DDE-1A68-8C5B-6FD9F52C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a LOT of things we couldn’t before</a:t>
            </a:r>
          </a:p>
          <a:p>
            <a:pPr lvl="1"/>
            <a:r>
              <a:rPr lang="en-US" dirty="0"/>
              <a:t>Summarization</a:t>
            </a:r>
          </a:p>
          <a:p>
            <a:pPr lvl="1"/>
            <a:r>
              <a:rPr lang="en-US" dirty="0"/>
              <a:t>Data Extraction</a:t>
            </a:r>
          </a:p>
          <a:p>
            <a:pPr lvl="1"/>
            <a:r>
              <a:rPr lang="en-US" dirty="0"/>
              <a:t>Parsing/formatting of plain text</a:t>
            </a:r>
          </a:p>
          <a:p>
            <a:endParaRPr lang="en-US" dirty="0"/>
          </a:p>
          <a:p>
            <a:r>
              <a:rPr lang="en-US" dirty="0"/>
              <a:t>For cost, reliability, and maintenance:</a:t>
            </a:r>
          </a:p>
          <a:p>
            <a:pPr lvl="1"/>
            <a:r>
              <a:rPr lang="en-US" dirty="0"/>
              <a:t>Do only what you need in the LLM</a:t>
            </a:r>
          </a:p>
          <a:p>
            <a:pPr lvl="1"/>
            <a:r>
              <a:rPr lang="en-US" dirty="0"/>
              <a:t>Get back to normal code ASAP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37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672A-1EDE-7113-5AA4-F7BEC289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EB6E-29E5-D94E-09EA-23DFCF53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9 – 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75B7-D399-EB1E-6DEF-AEF951031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105"/>
            <a:ext cx="11115675" cy="4851082"/>
          </a:xfrm>
        </p:spPr>
        <p:txBody>
          <a:bodyPr>
            <a:normAutofit/>
          </a:bodyPr>
          <a:lstStyle/>
          <a:p>
            <a:r>
              <a:rPr lang="en-US" dirty="0"/>
              <a:t>Model Context Protocol</a:t>
            </a:r>
          </a:p>
          <a:p>
            <a:endParaRPr lang="en-US" dirty="0"/>
          </a:p>
          <a:p>
            <a:r>
              <a:rPr lang="en-US" dirty="0"/>
              <a:t>LLM friendly way for an LLM to:</a:t>
            </a:r>
          </a:p>
          <a:p>
            <a:pPr lvl="1"/>
            <a:r>
              <a:rPr lang="en-US" dirty="0"/>
              <a:t>Learn about tools</a:t>
            </a:r>
          </a:p>
          <a:p>
            <a:pPr lvl="1"/>
            <a:r>
              <a:rPr lang="en-US" dirty="0"/>
              <a:t>Deterministically alter the outside world</a:t>
            </a:r>
          </a:p>
          <a:p>
            <a:pPr lvl="1"/>
            <a:r>
              <a:rPr lang="en-US" dirty="0"/>
              <a:t>… in a controlled manner</a:t>
            </a:r>
          </a:p>
          <a:p>
            <a:pPr lvl="1"/>
            <a:endParaRPr lang="en-US" dirty="0"/>
          </a:p>
          <a:p>
            <a:r>
              <a:rPr lang="en-US" dirty="0"/>
              <a:t>Helps to modify prompts to note existence of available MCP Servers</a:t>
            </a:r>
          </a:p>
          <a:p>
            <a:endParaRPr lang="en-US" dirty="0"/>
          </a:p>
          <a:p>
            <a:r>
              <a:rPr lang="en-US" dirty="0"/>
              <a:t>Follow REST conventions, No Side Effects, Agent Context holds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979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08EC-3741-A209-8830-A20AFE33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all this review?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FFB04-022A-CDD9-4BC0-AF94C6FC9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Evals!</a:t>
            </a:r>
          </a:p>
          <a:p>
            <a:endParaRPr lang="en-US" dirty="0"/>
          </a:p>
          <a:p>
            <a:r>
              <a:rPr lang="en-US" dirty="0"/>
              <a:t>Let’s talk about Evals for  Minute!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2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Course Evaluations</a:t>
            </a:r>
          </a:p>
        </p:txBody>
      </p:sp>
      <p:sp>
        <p:nvSpPr>
          <p:cNvPr id="30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Evaluations are</a:t>
            </a:r>
          </a:p>
          <a:p>
            <a:pPr lvl="1"/>
            <a:r>
              <a:rPr lang="en-US" dirty="0">
                <a:latin typeface="Arial" charset="0"/>
              </a:rPr>
              <a:t>Important</a:t>
            </a:r>
          </a:p>
          <a:p>
            <a:pPr lvl="1"/>
            <a:r>
              <a:rPr lang="en-US" dirty="0">
                <a:latin typeface="Arial" charset="0"/>
              </a:rPr>
              <a:t>Serious</a:t>
            </a:r>
          </a:p>
          <a:p>
            <a:pPr lvl="1"/>
            <a:r>
              <a:rPr lang="en-US" dirty="0">
                <a:latin typeface="Arial" charset="0"/>
              </a:rPr>
              <a:t>Constructive</a:t>
            </a: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How are these used? </a:t>
            </a:r>
          </a:p>
        </p:txBody>
      </p:sp>
      <p:sp>
        <p:nvSpPr>
          <p:cNvPr id="409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Students fill out course/instructor evaluation (10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week)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Evaluations made available to Faculty (12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week)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Course instructor writes a course assessment report </a:t>
            </a:r>
          </a:p>
          <a:p>
            <a:pPr marL="914400" lvl="1" indent="-514350">
              <a:buFontTx/>
              <a:buAutoNum type="alphaLcParenR"/>
            </a:pPr>
            <a:r>
              <a:rPr lang="en-US">
                <a:latin typeface="Arial" charset="0"/>
              </a:rPr>
              <a:t>Recommendations for next year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Department approves course assessment report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Recommendations implemented next year</a:t>
            </a:r>
          </a:p>
          <a:p>
            <a:pPr marL="514350" indent="-514350">
              <a:buNone/>
            </a:pPr>
            <a:endParaRPr lang="en-US">
              <a:latin typeface="Arial" charset="0"/>
            </a:endParaRPr>
          </a:p>
          <a:p>
            <a:pPr marL="514350" indent="-514350">
              <a:buFontTx/>
              <a:buAutoNum type="arabicPeriod"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How are these used? </a:t>
            </a:r>
          </a:p>
        </p:txBody>
      </p:sp>
      <p:sp>
        <p:nvSpPr>
          <p:cNvPr id="512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Students fill out course/instructor evaluation (10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week)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Evaluations made available to Faculty (12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week)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Faculty respond to evaluations (within 2 weeks)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Student Evaluations/Faculty response made available to Dean and Department Head</a:t>
            </a:r>
          </a:p>
          <a:p>
            <a:pPr marL="514350" indent="-514350">
              <a:buFontTx/>
              <a:buAutoNum type="arabicPeriod"/>
            </a:pPr>
            <a:r>
              <a:rPr lang="en-US">
                <a:latin typeface="Arial" charset="0"/>
              </a:rPr>
              <a:t>Dean and Department Head respond to student evaluations</a:t>
            </a:r>
          </a:p>
          <a:p>
            <a:pPr marL="514350" indent="-514350">
              <a:buFontTx/>
              <a:buAutoNum type="arabicPeriod"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Evaluation?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Example:</a:t>
            </a:r>
          </a:p>
          <a:p>
            <a:pPr lvl="1"/>
            <a:r>
              <a:rPr lang="ja-JP" altLang="en-US">
                <a:latin typeface="Arial" charset="0"/>
              </a:rPr>
              <a:t>“</a:t>
            </a:r>
            <a:r>
              <a:rPr lang="en-US" altLang="ja-JP">
                <a:latin typeface="Arial" charset="0"/>
              </a:rPr>
              <a:t>___________</a:t>
            </a:r>
            <a:r>
              <a:rPr lang="ja-JP" altLang="en-US">
                <a:latin typeface="Arial" charset="0"/>
              </a:rPr>
              <a:t>”</a:t>
            </a:r>
            <a:r>
              <a:rPr lang="en-US" altLang="ja-JP">
                <a:latin typeface="Arial" charset="0"/>
              </a:rPr>
              <a:t> sucks/ is stupid/clueless </a:t>
            </a:r>
            <a:r>
              <a:rPr lang="en-US" altLang="ja-JP">
                <a:solidFill>
                  <a:srgbClr val="FF0000"/>
                </a:solidFill>
                <a:latin typeface="Arial" charset="0"/>
              </a:rPr>
              <a:t>(bad example)</a:t>
            </a:r>
          </a:p>
          <a:p>
            <a:pPr lvl="1"/>
            <a:r>
              <a:rPr lang="en-US">
                <a:latin typeface="Arial" charset="0"/>
              </a:rPr>
              <a:t>The instructor wasn</a:t>
            </a:r>
            <a:r>
              <a:rPr lang="ja-JP" altLang="en-US">
                <a:latin typeface="Arial" charset="0"/>
              </a:rPr>
              <a:t>’</a:t>
            </a:r>
            <a:r>
              <a:rPr lang="en-US" altLang="ja-JP">
                <a:latin typeface="Arial" charset="0"/>
              </a:rPr>
              <a:t>t effective because ….. </a:t>
            </a:r>
            <a:r>
              <a:rPr lang="en-US" altLang="ja-JP">
                <a:solidFill>
                  <a:srgbClr val="FF8000"/>
                </a:solidFill>
                <a:latin typeface="Arial" charset="0"/>
              </a:rPr>
              <a:t>( better example)</a:t>
            </a:r>
            <a:endParaRPr lang="en-US" altLang="ja-JP">
              <a:latin typeface="Arial" charset="0"/>
            </a:endParaRPr>
          </a:p>
          <a:p>
            <a:pPr lvl="1"/>
            <a:r>
              <a:rPr lang="en-US">
                <a:latin typeface="Arial" charset="0"/>
              </a:rPr>
              <a:t>The instructor can do a)    b) etc to become a better instructor </a:t>
            </a:r>
            <a:r>
              <a:rPr lang="en-US">
                <a:solidFill>
                  <a:schemeClr val="hlink"/>
                </a:solidFill>
                <a:latin typeface="Arial" charset="0"/>
              </a:rPr>
              <a:t>(ideal)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Evaluation?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</a:rPr>
              <a:t>Evaluations include</a:t>
            </a:r>
          </a:p>
          <a:p>
            <a:pPr lvl="1"/>
            <a:r>
              <a:rPr lang="en-US" sz="2400">
                <a:latin typeface="Arial" charset="0"/>
              </a:rPr>
              <a:t>Things that you liked about the class</a:t>
            </a:r>
          </a:p>
          <a:p>
            <a:pPr lvl="1"/>
            <a:r>
              <a:rPr lang="en-US" sz="2400">
                <a:latin typeface="Arial" charset="0"/>
              </a:rPr>
              <a:t>Things that you liked about the lecture</a:t>
            </a:r>
          </a:p>
          <a:p>
            <a:pPr lvl="1"/>
            <a:r>
              <a:rPr lang="en-US" sz="2400">
                <a:latin typeface="Arial" charset="0"/>
              </a:rPr>
              <a:t>Things that you liked about the instructor</a:t>
            </a:r>
          </a:p>
          <a:p>
            <a:pPr lvl="1"/>
            <a:r>
              <a:rPr lang="en-US" sz="2400">
                <a:latin typeface="Arial" charset="0"/>
              </a:rPr>
              <a:t>Things that you liked about the work done in class</a:t>
            </a:r>
          </a:p>
          <a:p>
            <a:pPr lvl="1"/>
            <a:r>
              <a:rPr lang="en-US" sz="2400">
                <a:latin typeface="Arial" charset="0"/>
              </a:rPr>
              <a:t>Things that you liked about the work done outside the classroom</a:t>
            </a:r>
          </a:p>
          <a:p>
            <a:pPr lvl="1"/>
            <a:r>
              <a:rPr lang="en-US" sz="2400">
                <a:latin typeface="Arial" charset="0"/>
              </a:rPr>
              <a:t>Things that you liked about interactions with the instructor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Evaluation?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Evaluations include</a:t>
            </a:r>
          </a:p>
          <a:p>
            <a:pPr lvl="1"/>
            <a:r>
              <a:rPr lang="en-US" sz="2000">
                <a:latin typeface="Arial" charset="0"/>
              </a:rPr>
              <a:t>Things that you  would like to </a:t>
            </a:r>
            <a:r>
              <a:rPr lang="en-US" sz="2000">
                <a:solidFill>
                  <a:schemeClr val="accent2"/>
                </a:solidFill>
                <a:latin typeface="Arial" charset="0"/>
              </a:rPr>
              <a:t>see change</a:t>
            </a:r>
            <a:r>
              <a:rPr lang="en-US" sz="2000">
                <a:latin typeface="Arial" charset="0"/>
              </a:rPr>
              <a:t> about the class</a:t>
            </a:r>
          </a:p>
          <a:p>
            <a:pPr lvl="1"/>
            <a:r>
              <a:rPr lang="en-US" sz="2000">
                <a:latin typeface="Arial" charset="0"/>
              </a:rPr>
              <a:t>Things that you  would like to </a:t>
            </a:r>
            <a:r>
              <a:rPr lang="en-US" sz="2000">
                <a:solidFill>
                  <a:schemeClr val="accent2"/>
                </a:solidFill>
                <a:latin typeface="Arial" charset="0"/>
              </a:rPr>
              <a:t>see change</a:t>
            </a:r>
            <a:r>
              <a:rPr lang="en-US" sz="2000">
                <a:latin typeface="Arial" charset="0"/>
              </a:rPr>
              <a:t> about the lecture</a:t>
            </a:r>
          </a:p>
          <a:p>
            <a:pPr lvl="1"/>
            <a:r>
              <a:rPr lang="en-US" sz="2000">
                <a:latin typeface="Arial" charset="0"/>
              </a:rPr>
              <a:t>Things that you  would like to </a:t>
            </a:r>
            <a:r>
              <a:rPr lang="en-US" sz="2000">
                <a:solidFill>
                  <a:schemeClr val="accent2"/>
                </a:solidFill>
                <a:latin typeface="Arial" charset="0"/>
              </a:rPr>
              <a:t>see change</a:t>
            </a:r>
            <a:r>
              <a:rPr lang="en-US" sz="2000">
                <a:latin typeface="Arial" charset="0"/>
              </a:rPr>
              <a:t> about the instructor</a:t>
            </a:r>
          </a:p>
          <a:p>
            <a:pPr lvl="1"/>
            <a:r>
              <a:rPr lang="en-US" sz="2000">
                <a:latin typeface="Arial" charset="0"/>
              </a:rPr>
              <a:t>Things that you  would like to </a:t>
            </a:r>
            <a:r>
              <a:rPr lang="en-US" sz="2000">
                <a:solidFill>
                  <a:schemeClr val="accent2"/>
                </a:solidFill>
                <a:latin typeface="Arial" charset="0"/>
              </a:rPr>
              <a:t>see change</a:t>
            </a:r>
            <a:r>
              <a:rPr lang="en-US" sz="2000">
                <a:latin typeface="Arial" charset="0"/>
              </a:rPr>
              <a:t> about the work done in class</a:t>
            </a:r>
          </a:p>
          <a:p>
            <a:pPr lvl="1"/>
            <a:r>
              <a:rPr lang="en-US" sz="2000">
                <a:latin typeface="Arial" charset="0"/>
              </a:rPr>
              <a:t>Things that you  would like to </a:t>
            </a:r>
            <a:r>
              <a:rPr lang="en-US" sz="2000">
                <a:solidFill>
                  <a:schemeClr val="accent2"/>
                </a:solidFill>
                <a:latin typeface="Arial" charset="0"/>
              </a:rPr>
              <a:t>see change</a:t>
            </a:r>
            <a:r>
              <a:rPr lang="en-US" sz="2000">
                <a:latin typeface="Arial" charset="0"/>
              </a:rPr>
              <a:t> about the work done outside the classroom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4580-54FA-B3CC-72A1-E4405A48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283F-05B5-52F2-D7E8-3468825E7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Evals!</a:t>
            </a:r>
          </a:p>
          <a:p>
            <a:endParaRPr lang="en-US" dirty="0"/>
          </a:p>
          <a:p>
            <a:r>
              <a:rPr lang="en-US" dirty="0"/>
              <a:t>That’s all!</a:t>
            </a:r>
          </a:p>
        </p:txBody>
      </p:sp>
    </p:spTree>
    <p:extLst>
      <p:ext uri="{BB962C8B-B14F-4D97-AF65-F5344CB8AC3E}">
        <p14:creationId xmlns:p14="http://schemas.microsoft.com/office/powerpoint/2010/main" val="146900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10796</TotalTime>
  <Words>1081</Words>
  <Application>Microsoft Office PowerPoint</Application>
  <PresentationFormat>Widescreen</PresentationFormat>
  <Paragraphs>187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Maintenance Course Wrap-Up</vt:lpstr>
      <vt:lpstr>Attendance Code</vt:lpstr>
      <vt:lpstr>What happens to my model over time?</vt:lpstr>
      <vt:lpstr>How do we deal with this?</vt:lpstr>
      <vt:lpstr>That sounds like a lot of work…</vt:lpstr>
      <vt:lpstr>Aside: Ok, but my ML model is safe, right?</vt:lpstr>
      <vt:lpstr>What’s next in AI?</vt:lpstr>
      <vt:lpstr>Course Takeaways</vt:lpstr>
      <vt:lpstr>Week 1 – The Basics</vt:lpstr>
      <vt:lpstr>Week 2 – Understanding Models?</vt:lpstr>
      <vt:lpstr>Week 3 and 4 – Prompt Engineering</vt:lpstr>
      <vt:lpstr>Week 5 – Agent Mode</vt:lpstr>
      <vt:lpstr>Week 6 – Programmatic AI</vt:lpstr>
      <vt:lpstr>Week 7 – </vt:lpstr>
      <vt:lpstr>Week 8 – LLMs as Business Tools</vt:lpstr>
      <vt:lpstr>Week 9 – MCP Servers</vt:lpstr>
      <vt:lpstr>Why all this review?</vt:lpstr>
      <vt:lpstr>Course Evaluations</vt:lpstr>
      <vt:lpstr>How are these used? </vt:lpstr>
      <vt:lpstr>How are these used? </vt:lpstr>
      <vt:lpstr>What is an Evaluation?</vt:lpstr>
      <vt:lpstr>What is an Evaluation?</vt:lpstr>
      <vt:lpstr>What is an Evaluation?</vt:lpstr>
      <vt:lpstr>Homework </vt:lpstr>
    </vt:vector>
  </TitlesOfParts>
  <Company>University of Notre Dame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Bartolini</dc:creator>
  <cp:lastModifiedBy>Stouder, Amanda</cp:lastModifiedBy>
  <cp:revision>74</cp:revision>
  <dcterms:created xsi:type="dcterms:W3CDTF">2019-01-08T16:34:08Z</dcterms:created>
  <dcterms:modified xsi:type="dcterms:W3CDTF">2025-11-11T14:50:17Z</dcterms:modified>
</cp:coreProperties>
</file>