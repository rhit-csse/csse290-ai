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8" r:id="rId2"/>
    <p:sldId id="257" r:id="rId3"/>
    <p:sldId id="282" r:id="rId4"/>
    <p:sldId id="256" r:id="rId5"/>
    <p:sldId id="266" r:id="rId6"/>
    <p:sldId id="268" r:id="rId7"/>
    <p:sldId id="286" r:id="rId8"/>
    <p:sldId id="283" r:id="rId9"/>
    <p:sldId id="271" r:id="rId10"/>
    <p:sldId id="285" r:id="rId11"/>
    <p:sldId id="270" r:id="rId12"/>
    <p:sldId id="276" r:id="rId13"/>
    <p:sldId id="273" r:id="rId14"/>
    <p:sldId id="279" r:id="rId15"/>
    <p:sldId id="280" r:id="rId16"/>
    <p:sldId id="267" r:id="rId17"/>
    <p:sldId id="272" r:id="rId18"/>
    <p:sldId id="277" r:id="rId19"/>
    <p:sldId id="281" r:id="rId20"/>
    <p:sldId id="27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772" autoAdjust="0"/>
  </p:normalViewPr>
  <p:slideViewPr>
    <p:cSldViewPr snapToGrid="0">
      <p:cViewPr varScale="1">
        <p:scale>
          <a:sx n="149" d="100"/>
          <a:sy n="149" d="100"/>
        </p:scale>
        <p:origin x="108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BF18DD-2582-4384-8F05-2BFE7DC01E67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072615-FECA-440A-88E4-232CB6E4E4E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18799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Claude 3.5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72615-FECA-440A-88E4-232CB6E4E4E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928501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72615-FECA-440A-88E4-232CB6E4E4E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2212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72615-FECA-440A-88E4-232CB6E4E4E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174669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3072615-FECA-440A-88E4-232CB6E4E4E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860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6B631B-6008-927B-232B-C643A6CA3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D4BBE5-7996-CD0C-C57B-374C19F926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56B18-C5F9-7F1D-2D12-8DD23E6649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5BB63-B4BC-3A7A-CB3F-338262E9E4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5A722D-722E-E884-04AA-BE10447D5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044470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E8347A-2277-D0C1-E54B-2FC29D122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FA69E8-47E7-A43D-4DCE-D5EBA9C437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7D0085-E566-0A05-895B-A7A4110A94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5E58A4-7EAA-442B-A193-D85E440242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100F8C-CF8D-48DA-D107-EA9F85D867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95049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0F0075-BF9E-A905-75D5-28C9F27B83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032289C-4A38-6979-593C-BDADDB1489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5DCCB1-20DB-0D97-68FE-6CF843076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76DE7-5C5B-7928-F3A4-8D38D4D974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FC6D9B-579D-6933-E805-5CE15D20F2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3798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EB2335-32F6-EC71-F10E-4BEE374BE7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5A7472-74D4-FDE7-00D4-96D96A34825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656F78-C309-2013-167C-3B580D3A691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4F16F2-F2AF-D027-7D12-BB39F0857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71ED04-4543-148D-6033-BEC4F253D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1043A9-C028-7C32-C731-D1FA7AE53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748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C74EE1-76D1-6A19-8AA6-2F94F8F3A4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BEF99-1494-A2DE-26FD-AE71EC9E8B0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9B88A3-3C4D-051A-EB45-F0B706B54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618D865-EC10-103A-EBC6-4C5A0CAAB2C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3592365-E975-E0FA-EEFD-A51AE5384DD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D3B9E4-367C-7049-E52B-2A859ED49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4B29220-AE4B-FDF7-9442-A6EB5514A4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C627ED8-C053-9DFC-8ED0-5AB14EAF4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29807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0945B3-4073-2713-A48D-0F0660A753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6CAD1FD-CC1D-940C-3428-65DFE8FB9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499E38-9F16-EA6A-1611-E354EF3DD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616084-8660-D84B-20B5-B77A703B4C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7626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2583A23-0ADC-4464-E2F3-6FFA5F71F7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9FEC99-CE59-C9B1-CE95-209000609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8A7A884-DEF5-14BF-468C-2140039BC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40879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13F1C-0558-5699-0A7C-D8165200A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25D2BF-34B5-6F88-E51A-2B539DC59A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A69EFC-7827-33C8-02AD-89BA8B59AA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26F167-540B-40C9-C230-E6450EE8E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4B75B0-1878-1951-E0A6-D7CC03D09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E7A81E-8A94-9915-2148-1497C5D69A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5814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711166-3BFF-85FF-A988-64E36F6077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54426E-516C-C174-E472-205B36345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65A1E9-4B4A-13FF-F63F-D6AD4EB46A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866A44E-1A68-0C25-18C6-54345FE805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FA1ABE8-598E-6968-152D-03338723B5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40CF13-9147-5184-D881-A5328991BE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286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8A039-44C0-CB84-AF9A-CFFAA3EAB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B00085-A9F2-5EC8-7F3A-96F8789755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3EADE7-9247-C0D5-6CF4-7446837FD6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09171F-AEB0-D49E-DF3D-C1DA13FEA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59BC8F-F60D-B1C9-C50D-FFE9DEB63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378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D7C9D9B-092D-6550-07F0-EEFA9518911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2DB4E7-DE0B-D38B-55E6-6AA8E68CC1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F2C71E-224E-0180-FDE0-0F590C8C14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10C28E-0F78-C4FE-0E8E-A53C269E6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5F18D2-8010-B6F5-1E30-39B683813D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10254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F51717-8C4D-2596-C9BF-E05BE11CCA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653EF8-BC6E-8705-BC66-4336E10EFA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BB3A8C-DFFD-1F5E-F37D-BADB3ACF6FF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85D5A9-7D30-4DA7-A324-67AC7A15AFF5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5EE29-51C6-4F01-F623-61C4F811CA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FE8E4E-C5CA-DAB3-BFD0-3F9B90BD4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350257-9E7C-4479-BD04-1F46B6D6CB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7020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jamestang/deep-dive-understanding-mcp-client-server-communication-with-agent-and-llm-aa4782a6599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odelcontextprotocol/python-sdk" TargetMode="External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code.visualstudio.com/api/extension-guides/ai/mcp" TargetMode="External"/><Relationship Id="rId2" Type="http://schemas.openxmlformats.org/officeDocument/2006/relationships/hyperlink" Target="https://github.com/modelcontextprotocol/python-sdk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8E8C33-4CC0-9EC9-294E-BE6B4B3EC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do LLMs struggle with this task?</a:t>
            </a:r>
            <a:endParaRPr lang="en-US" u="sn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B7BA26-50DD-9A92-6AE8-6C1D33141B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Suppose I have a program named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foo.exe</a:t>
            </a:r>
            <a:r>
              <a:rPr lang="en-US" dirty="0"/>
              <a:t> on my computer.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foo.exe</a:t>
            </a:r>
            <a:r>
              <a:rPr lang="en-US" dirty="0"/>
              <a:t> takes many weird command-line arguments.</a:t>
            </a:r>
          </a:p>
          <a:p>
            <a:endParaRPr lang="en-US" dirty="0"/>
          </a:p>
          <a:p>
            <a:r>
              <a:rPr lang="en-US" dirty="0"/>
              <a:t>I prompt Agent Mode:</a:t>
            </a:r>
            <a:br>
              <a:rPr lang="en-US" dirty="0"/>
            </a:br>
            <a:r>
              <a:rPr lang="en-US" dirty="0"/>
              <a:t>	“Run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foo.exe</a:t>
            </a:r>
            <a:r>
              <a:rPr lang="en-US" dirty="0"/>
              <a:t> on every .</a:t>
            </a:r>
            <a:r>
              <a:rPr lang="en-US" dirty="0" err="1"/>
              <a:t>py</a:t>
            </a:r>
            <a:r>
              <a:rPr lang="en-US" dirty="0"/>
              <a:t> file in my project.”</a:t>
            </a:r>
          </a:p>
          <a:p>
            <a:endParaRPr lang="en-US" dirty="0"/>
          </a:p>
          <a:p>
            <a:r>
              <a:rPr lang="en-US" dirty="0"/>
              <a:t>What are some things that will go wrong?</a:t>
            </a:r>
          </a:p>
        </p:txBody>
      </p:sp>
    </p:spTree>
    <p:extLst>
      <p:ext uri="{BB962C8B-B14F-4D97-AF65-F5344CB8AC3E}">
        <p14:creationId xmlns:p14="http://schemas.microsoft.com/office/powerpoint/2010/main" val="21594872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5AA4A-2996-B129-7079-87E53166A3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cannot be relied on for </a:t>
            </a:r>
            <a:r>
              <a:rPr lang="en-US" i="1" dirty="0"/>
              <a:t>determinism</a:t>
            </a:r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9CD1D408-F72F-DDF5-3745-49092B12F6E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1349780"/>
            <a:ext cx="3314700" cy="5364691"/>
          </a:xfrm>
        </p:spPr>
      </p:pic>
    </p:spTree>
    <p:extLst>
      <p:ext uri="{BB962C8B-B14F-4D97-AF65-F5344CB8AC3E}">
        <p14:creationId xmlns:p14="http://schemas.microsoft.com/office/powerpoint/2010/main" val="32574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E98ACD-290B-DE32-F818-FC13265AC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Letting LLMs run code they write is </a:t>
            </a:r>
            <a:r>
              <a:rPr lang="en-US" u="sng" dirty="0"/>
              <a:t>dangerous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52E81E2-E464-8C99-FAC2-954ED8205E5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128" r="51577" b="39571"/>
          <a:stretch>
            <a:fillRect/>
          </a:stretch>
        </p:blipFill>
        <p:spPr>
          <a:xfrm>
            <a:off x="7234182" y="2760395"/>
            <a:ext cx="4551544" cy="13037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Arrow: Right 4">
            <a:extLst>
              <a:ext uri="{FF2B5EF4-FFF2-40B4-BE49-F238E27FC236}">
                <a16:creationId xmlns:a16="http://schemas.microsoft.com/office/drawing/2014/main" id="{200A942F-512D-9D29-35FB-23D854F3B6B3}"/>
              </a:ext>
            </a:extLst>
          </p:cNvPr>
          <p:cNvSpPr/>
          <p:nvPr/>
        </p:nvSpPr>
        <p:spPr>
          <a:xfrm>
            <a:off x="5872676" y="3108471"/>
            <a:ext cx="994180" cy="607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FAD6119-F2E9-3A69-B115-BC3725B333A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61"/>
          <a:stretch>
            <a:fillRect/>
          </a:stretch>
        </p:blipFill>
        <p:spPr>
          <a:xfrm>
            <a:off x="405692" y="1790489"/>
            <a:ext cx="5199893" cy="3851073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4C45F6B5-47B1-ACC8-F1C3-AF552DDD1514}"/>
              </a:ext>
            </a:extLst>
          </p:cNvPr>
          <p:cNvSpPr/>
          <p:nvPr/>
        </p:nvSpPr>
        <p:spPr>
          <a:xfrm>
            <a:off x="10463220" y="3639492"/>
            <a:ext cx="902126" cy="424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5FDA917-0D12-F006-DBF0-16FE904E371F}"/>
              </a:ext>
            </a:extLst>
          </p:cNvPr>
          <p:cNvSpPr txBox="1"/>
          <p:nvPr/>
        </p:nvSpPr>
        <p:spPr>
          <a:xfrm>
            <a:off x="1413246" y="422576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646388A-BA8C-51DA-E5FF-15524CA5B95C}"/>
              </a:ext>
            </a:extLst>
          </p:cNvPr>
          <p:cNvSpPr txBox="1"/>
          <p:nvPr/>
        </p:nvSpPr>
        <p:spPr>
          <a:xfrm>
            <a:off x="3567982" y="4606860"/>
            <a:ext cx="10366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Terminal</a:t>
            </a:r>
          </a:p>
        </p:txBody>
      </p:sp>
    </p:spTree>
    <p:extLst>
      <p:ext uri="{BB962C8B-B14F-4D97-AF65-F5344CB8AC3E}">
        <p14:creationId xmlns:p14="http://schemas.microsoft.com/office/powerpoint/2010/main" val="1292106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912C84-589D-B493-EE42-650305FDD0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Model Context Protocol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50589F2-BF40-78ED-7A47-851916E2C5D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An LLM-friendly way for LLMs to </a:t>
            </a:r>
          </a:p>
          <a:p>
            <a:r>
              <a:rPr lang="en-US" b="1" dirty="0"/>
              <a:t>learn </a:t>
            </a:r>
            <a:r>
              <a:rPr lang="en-US" dirty="0"/>
              <a:t>about tools on the system, and</a:t>
            </a:r>
          </a:p>
          <a:p>
            <a:r>
              <a:rPr lang="en-US" b="1" dirty="0"/>
              <a:t>deterministically alter</a:t>
            </a:r>
            <a:r>
              <a:rPr lang="en-US" dirty="0"/>
              <a:t> the outside world</a:t>
            </a:r>
          </a:p>
          <a:p>
            <a:r>
              <a:rPr lang="en-US" dirty="0"/>
              <a:t>in a </a:t>
            </a:r>
            <a:r>
              <a:rPr lang="en-US" b="1" dirty="0"/>
              <a:t>controlled manner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5409347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46329-85E5-1883-EAC8-4C6CE1D448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-214547"/>
            <a:ext cx="11496675" cy="1325563"/>
          </a:xfrm>
        </p:spPr>
        <p:txBody>
          <a:bodyPr/>
          <a:lstStyle/>
          <a:p>
            <a:pPr algn="ctr"/>
            <a:r>
              <a:rPr lang="en-US" dirty="0"/>
              <a:t>Conceptual architecture of Agent + MCP</a:t>
            </a:r>
            <a:endParaRPr lang="en-US" u="sng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3BA87CC-3840-60D1-3FC4-B7E10D7C356B}"/>
              </a:ext>
            </a:extLst>
          </p:cNvPr>
          <p:cNvSpPr/>
          <p:nvPr/>
        </p:nvSpPr>
        <p:spPr>
          <a:xfrm>
            <a:off x="6083719" y="1624685"/>
            <a:ext cx="2282931" cy="125193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</a:p>
          <a:p>
            <a:pPr algn="ctr"/>
            <a:r>
              <a:rPr lang="en-US" dirty="0"/>
              <a:t>(aka MCP </a:t>
            </a:r>
            <a:r>
              <a:rPr lang="en-US" u="sng" dirty="0"/>
              <a:t>Client</a:t>
            </a:r>
            <a:r>
              <a:rPr lang="en-US" dirty="0"/>
              <a:t>)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CAB704-57EC-DECA-27D3-4F30A2500E77}"/>
              </a:ext>
            </a:extLst>
          </p:cNvPr>
          <p:cNvSpPr/>
          <p:nvPr/>
        </p:nvSpPr>
        <p:spPr>
          <a:xfrm>
            <a:off x="6412083" y="6045849"/>
            <a:ext cx="1906572" cy="496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Web services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6E5E928A-578F-4CA4-0F2C-CDFE8BBB2670}"/>
              </a:ext>
            </a:extLst>
          </p:cNvPr>
          <p:cNvSpPr/>
          <p:nvPr/>
        </p:nvSpPr>
        <p:spPr>
          <a:xfrm>
            <a:off x="3911446" y="4613950"/>
            <a:ext cx="4829239" cy="213564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48730BDD-7DE0-7314-0D25-AD74EBD9C7F4}"/>
              </a:ext>
            </a:extLst>
          </p:cNvPr>
          <p:cNvSpPr txBox="1"/>
          <p:nvPr/>
        </p:nvSpPr>
        <p:spPr>
          <a:xfrm>
            <a:off x="5155814" y="4711279"/>
            <a:ext cx="23405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Resources and Tools</a:t>
            </a:r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78FF246A-2E65-FCEA-3158-5DA12479961B}"/>
              </a:ext>
            </a:extLst>
          </p:cNvPr>
          <p:cNvSpPr/>
          <p:nvPr/>
        </p:nvSpPr>
        <p:spPr>
          <a:xfrm>
            <a:off x="4094014" y="1660739"/>
            <a:ext cx="1509681" cy="117982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Context</a:t>
            </a:r>
          </a:p>
        </p:txBody>
      </p:sp>
      <p:sp>
        <p:nvSpPr>
          <p:cNvPr id="115" name="TextBox 114">
            <a:extLst>
              <a:ext uri="{FF2B5EF4-FFF2-40B4-BE49-F238E27FC236}">
                <a16:creationId xmlns:a16="http://schemas.microsoft.com/office/drawing/2014/main" id="{578BEDD4-B982-4B85-08D5-E05C42BB40B3}"/>
              </a:ext>
            </a:extLst>
          </p:cNvPr>
          <p:cNvSpPr txBox="1"/>
          <p:nvPr/>
        </p:nvSpPr>
        <p:spPr>
          <a:xfrm>
            <a:off x="5932715" y="981699"/>
            <a:ext cx="54854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IDE</a:t>
            </a:r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6F2D2B57-CBD5-0CD0-530D-06F07F747DB0}"/>
              </a:ext>
            </a:extLst>
          </p:cNvPr>
          <p:cNvSpPr/>
          <p:nvPr/>
        </p:nvSpPr>
        <p:spPr>
          <a:xfrm>
            <a:off x="3849394" y="836503"/>
            <a:ext cx="4715190" cy="2346190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7" name="Arrow: Down 116">
            <a:extLst>
              <a:ext uri="{FF2B5EF4-FFF2-40B4-BE49-F238E27FC236}">
                <a16:creationId xmlns:a16="http://schemas.microsoft.com/office/drawing/2014/main" id="{61D74A30-DB08-5B85-B3D7-932CD7910219}"/>
              </a:ext>
            </a:extLst>
          </p:cNvPr>
          <p:cNvSpPr/>
          <p:nvPr/>
        </p:nvSpPr>
        <p:spPr>
          <a:xfrm rot="16200000">
            <a:off x="5666683" y="1968119"/>
            <a:ext cx="407194" cy="565060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Arrow: Down 111">
            <a:extLst>
              <a:ext uri="{FF2B5EF4-FFF2-40B4-BE49-F238E27FC236}">
                <a16:creationId xmlns:a16="http://schemas.microsoft.com/office/drawing/2014/main" id="{7E9B0E3B-211E-841C-7195-338B1802D4C8}"/>
              </a:ext>
            </a:extLst>
          </p:cNvPr>
          <p:cNvSpPr/>
          <p:nvPr/>
        </p:nvSpPr>
        <p:spPr>
          <a:xfrm>
            <a:off x="6970328" y="2889314"/>
            <a:ext cx="407194" cy="753733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4" name="Arrow: Down 113">
            <a:extLst>
              <a:ext uri="{FF2B5EF4-FFF2-40B4-BE49-F238E27FC236}">
                <a16:creationId xmlns:a16="http://schemas.microsoft.com/office/drawing/2014/main" id="{745F2105-AB9E-97D1-B727-4336EA72D6A6}"/>
              </a:ext>
            </a:extLst>
          </p:cNvPr>
          <p:cNvSpPr/>
          <p:nvPr/>
        </p:nvSpPr>
        <p:spPr>
          <a:xfrm rot="10800000">
            <a:off x="4632627" y="2843665"/>
            <a:ext cx="407194" cy="809833"/>
          </a:xfrm>
          <a:prstGeom prst="downArrow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795BA3A-587E-246A-1C1C-0FCB65F37856}"/>
              </a:ext>
            </a:extLst>
          </p:cNvPr>
          <p:cNvSpPr/>
          <p:nvPr/>
        </p:nvSpPr>
        <p:spPr>
          <a:xfrm>
            <a:off x="3911446" y="3663950"/>
            <a:ext cx="4829239" cy="489173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MCP </a:t>
            </a:r>
            <a:r>
              <a:rPr lang="en-US" u="sng" dirty="0"/>
              <a:t>Server</a:t>
            </a:r>
            <a:r>
              <a:rPr lang="en-US" dirty="0"/>
              <a:t> (you write </a:t>
            </a:r>
            <a:r>
              <a:rPr lang="en-US" u="sng" dirty="0"/>
              <a:t>this</a:t>
            </a:r>
            <a:r>
              <a:rPr lang="en-US" dirty="0"/>
              <a:t> code)</a:t>
            </a:r>
          </a:p>
        </p:txBody>
      </p:sp>
      <p:sp>
        <p:nvSpPr>
          <p:cNvPr id="8" name="Arrow: Down 7">
            <a:extLst>
              <a:ext uri="{FF2B5EF4-FFF2-40B4-BE49-F238E27FC236}">
                <a16:creationId xmlns:a16="http://schemas.microsoft.com/office/drawing/2014/main" id="{590E1FD4-FC5A-8D58-ADFE-F1260FC353D8}"/>
              </a:ext>
            </a:extLst>
          </p:cNvPr>
          <p:cNvSpPr/>
          <p:nvPr/>
        </p:nvSpPr>
        <p:spPr>
          <a:xfrm>
            <a:off x="6970328" y="4186726"/>
            <a:ext cx="407194" cy="45979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383717D-770F-5767-F2B7-EC865C0A0F3A}"/>
              </a:ext>
            </a:extLst>
          </p:cNvPr>
          <p:cNvSpPr/>
          <p:nvPr/>
        </p:nvSpPr>
        <p:spPr>
          <a:xfrm>
            <a:off x="6412083" y="5170572"/>
            <a:ext cx="1906572" cy="4963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Command line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40ADE56-9F3E-FF95-86AC-0D5CC003552D}"/>
              </a:ext>
            </a:extLst>
          </p:cNvPr>
          <p:cNvSpPr/>
          <p:nvPr/>
        </p:nvSpPr>
        <p:spPr>
          <a:xfrm>
            <a:off x="797229" y="2586110"/>
            <a:ext cx="1997054" cy="1349000"/>
          </a:xfrm>
          <a:prstGeom prst="rect">
            <a:avLst/>
          </a:prstGeom>
          <a:solidFill>
            <a:schemeClr val="accent4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LLM-friendly description Resources and Tools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35E5895-EBFB-D074-9E61-E87C912F0FDD}"/>
              </a:ext>
            </a:extLst>
          </p:cNvPr>
          <p:cNvSpPr txBox="1"/>
          <p:nvPr/>
        </p:nvSpPr>
        <p:spPr>
          <a:xfrm>
            <a:off x="1344931" y="982652"/>
            <a:ext cx="8544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Inputs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2553F0B-2330-5F4C-96F3-2A71CC4B141F}"/>
              </a:ext>
            </a:extLst>
          </p:cNvPr>
          <p:cNvSpPr/>
          <p:nvPr/>
        </p:nvSpPr>
        <p:spPr>
          <a:xfrm>
            <a:off x="669326" y="914400"/>
            <a:ext cx="2254574" cy="577804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Arrow: Down 18">
            <a:extLst>
              <a:ext uri="{FF2B5EF4-FFF2-40B4-BE49-F238E27FC236}">
                <a16:creationId xmlns:a16="http://schemas.microsoft.com/office/drawing/2014/main" id="{0F5DBC4E-5E12-A9D9-9804-DCFAA402655A}"/>
              </a:ext>
            </a:extLst>
          </p:cNvPr>
          <p:cNvSpPr/>
          <p:nvPr/>
        </p:nvSpPr>
        <p:spPr>
          <a:xfrm rot="14921775">
            <a:off x="3285035" y="2115436"/>
            <a:ext cx="407194" cy="10509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Arrow: Down 19">
            <a:extLst>
              <a:ext uri="{FF2B5EF4-FFF2-40B4-BE49-F238E27FC236}">
                <a16:creationId xmlns:a16="http://schemas.microsoft.com/office/drawing/2014/main" id="{AB82BEBE-BC67-710C-9E1D-C35C9778FE9A}"/>
              </a:ext>
            </a:extLst>
          </p:cNvPr>
          <p:cNvSpPr/>
          <p:nvPr/>
        </p:nvSpPr>
        <p:spPr>
          <a:xfrm rot="6589426">
            <a:off x="3112060" y="3104870"/>
            <a:ext cx="407194" cy="105095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6E75E4A-61A8-25CE-78A8-D185B8C561CF}"/>
              </a:ext>
            </a:extLst>
          </p:cNvPr>
          <p:cNvSpPr/>
          <p:nvPr/>
        </p:nvSpPr>
        <p:spPr>
          <a:xfrm>
            <a:off x="9904807" y="1522580"/>
            <a:ext cx="1580707" cy="866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Claude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E493BE5C-AF61-BF97-3B87-9EFF87E40611}"/>
              </a:ext>
            </a:extLst>
          </p:cNvPr>
          <p:cNvSpPr/>
          <p:nvPr/>
        </p:nvSpPr>
        <p:spPr>
          <a:xfrm>
            <a:off x="9904808" y="2906708"/>
            <a:ext cx="1580706" cy="866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GPT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348A6C-9676-5E17-8B36-8EDF28E97C65}"/>
              </a:ext>
            </a:extLst>
          </p:cNvPr>
          <p:cNvSpPr/>
          <p:nvPr/>
        </p:nvSpPr>
        <p:spPr>
          <a:xfrm>
            <a:off x="9904808" y="4384681"/>
            <a:ext cx="1580706" cy="86683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Gemini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AFBF094-AFBE-0110-6E0A-04AFEE6672F0}"/>
              </a:ext>
            </a:extLst>
          </p:cNvPr>
          <p:cNvSpPr txBox="1"/>
          <p:nvPr/>
        </p:nvSpPr>
        <p:spPr>
          <a:xfrm>
            <a:off x="9904807" y="836503"/>
            <a:ext cx="1745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b="1" dirty="0"/>
              <a:t>LLMs</a:t>
            </a:r>
            <a:br>
              <a:rPr lang="en-US" dirty="0"/>
            </a:br>
            <a:r>
              <a:rPr lang="en-US" dirty="0"/>
              <a:t>(are </a:t>
            </a:r>
            <a:r>
              <a:rPr lang="en-US" u="sng" dirty="0"/>
              <a:t>not</a:t>
            </a:r>
            <a:r>
              <a:rPr lang="en-US" dirty="0"/>
              <a:t> Agents)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3F4705-7044-3B73-FA19-78D74E2E4A23}"/>
              </a:ext>
            </a:extLst>
          </p:cNvPr>
          <p:cNvSpPr/>
          <p:nvPr/>
        </p:nvSpPr>
        <p:spPr>
          <a:xfrm>
            <a:off x="9478001" y="852633"/>
            <a:ext cx="2540682" cy="469465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Arrow: Down 25">
            <a:extLst>
              <a:ext uri="{FF2B5EF4-FFF2-40B4-BE49-F238E27FC236}">
                <a16:creationId xmlns:a16="http://schemas.microsoft.com/office/drawing/2014/main" id="{3A1A1701-281B-6F39-2A82-EAD736D70AEC}"/>
              </a:ext>
            </a:extLst>
          </p:cNvPr>
          <p:cNvSpPr/>
          <p:nvPr/>
        </p:nvSpPr>
        <p:spPr>
          <a:xfrm rot="16200000">
            <a:off x="8854300" y="1300932"/>
            <a:ext cx="407194" cy="9029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Arrow: Down 28">
            <a:extLst>
              <a:ext uri="{FF2B5EF4-FFF2-40B4-BE49-F238E27FC236}">
                <a16:creationId xmlns:a16="http://schemas.microsoft.com/office/drawing/2014/main" id="{099DB329-49E4-5F55-F983-925247ADDD58}"/>
              </a:ext>
            </a:extLst>
          </p:cNvPr>
          <p:cNvSpPr/>
          <p:nvPr/>
        </p:nvSpPr>
        <p:spPr>
          <a:xfrm rot="10800000">
            <a:off x="4632628" y="4170442"/>
            <a:ext cx="407194" cy="459793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2922D1A-AF96-F1EC-D89A-EE1D0677FAE6}"/>
              </a:ext>
            </a:extLst>
          </p:cNvPr>
          <p:cNvSpPr txBox="1"/>
          <p:nvPr/>
        </p:nvSpPr>
        <p:spPr>
          <a:xfrm>
            <a:off x="7770317" y="3152776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MCP JSON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0C202E6-CBFD-25A9-3009-A2E263E4F806}"/>
              </a:ext>
            </a:extLst>
          </p:cNvPr>
          <p:cNvSpPr txBox="1"/>
          <p:nvPr/>
        </p:nvSpPr>
        <p:spPr>
          <a:xfrm>
            <a:off x="7289892" y="4186726"/>
            <a:ext cx="204350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/>
              <a:t>Deterministic</a:t>
            </a:r>
            <a:r>
              <a:rPr lang="en-US" dirty="0"/>
              <a:t> calls</a:t>
            </a:r>
          </a:p>
        </p:txBody>
      </p:sp>
      <p:sp>
        <p:nvSpPr>
          <p:cNvPr id="33" name="Cylinder 32">
            <a:extLst>
              <a:ext uri="{FF2B5EF4-FFF2-40B4-BE49-F238E27FC236}">
                <a16:creationId xmlns:a16="http://schemas.microsoft.com/office/drawing/2014/main" id="{FF66A8E1-156E-D0C7-6B62-A5823FB4618D}"/>
              </a:ext>
            </a:extLst>
          </p:cNvPr>
          <p:cNvSpPr/>
          <p:nvPr/>
        </p:nvSpPr>
        <p:spPr>
          <a:xfrm>
            <a:off x="4645288" y="5988150"/>
            <a:ext cx="789065" cy="646331"/>
          </a:xfrm>
          <a:prstGeom prst="ca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DB</a:t>
            </a: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361A7ABE-BD6D-2730-5969-47DA24975ACF}"/>
              </a:ext>
            </a:extLst>
          </p:cNvPr>
          <p:cNvGrpSpPr/>
          <p:nvPr/>
        </p:nvGrpSpPr>
        <p:grpSpPr>
          <a:xfrm>
            <a:off x="4418498" y="4849348"/>
            <a:ext cx="1138802" cy="1138802"/>
            <a:chOff x="4224599" y="1481298"/>
            <a:chExt cx="1425634" cy="1425634"/>
          </a:xfrm>
        </p:grpSpPr>
        <p:pic>
          <p:nvPicPr>
            <p:cNvPr id="41" name="Graphic 40" descr="Folder with solid fill">
              <a:extLst>
                <a:ext uri="{FF2B5EF4-FFF2-40B4-BE49-F238E27FC236}">
                  <a16:creationId xmlns:a16="http://schemas.microsoft.com/office/drawing/2014/main" id="{A7DCE8AC-D8CD-371C-1296-C1075D186D9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4224599" y="1481298"/>
              <a:ext cx="1425634" cy="1425634"/>
            </a:xfrm>
            <a:prstGeom prst="rect">
              <a:avLst/>
            </a:prstGeom>
          </p:spPr>
        </p:pic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1CCBB37-4DF9-7A67-82EA-C114442D1504}"/>
                </a:ext>
              </a:extLst>
            </p:cNvPr>
            <p:cNvSpPr txBox="1"/>
            <p:nvPr/>
          </p:nvSpPr>
          <p:spPr>
            <a:xfrm>
              <a:off x="4626176" y="2072152"/>
              <a:ext cx="65088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>
                  <a:solidFill>
                    <a:schemeClr val="bg1"/>
                  </a:solidFill>
                </a:rPr>
                <a:t>Files</a:t>
              </a:r>
            </a:p>
          </p:txBody>
        </p:sp>
      </p:grpSp>
      <p:sp>
        <p:nvSpPr>
          <p:cNvPr id="44" name="Arrow: Down 43">
            <a:extLst>
              <a:ext uri="{FF2B5EF4-FFF2-40B4-BE49-F238E27FC236}">
                <a16:creationId xmlns:a16="http://schemas.microsoft.com/office/drawing/2014/main" id="{CCAC19CC-1AE9-BC7D-A82C-C477E55BE121}"/>
              </a:ext>
            </a:extLst>
          </p:cNvPr>
          <p:cNvSpPr/>
          <p:nvPr/>
        </p:nvSpPr>
        <p:spPr>
          <a:xfrm rot="5400000">
            <a:off x="8822771" y="2455238"/>
            <a:ext cx="407194" cy="90293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C8D38D9E-BA19-DCF5-DFE5-F3C6FC2D9E2B}"/>
              </a:ext>
            </a:extLst>
          </p:cNvPr>
          <p:cNvSpPr txBox="1"/>
          <p:nvPr/>
        </p:nvSpPr>
        <p:spPr>
          <a:xfrm>
            <a:off x="8675567" y="1255353"/>
            <a:ext cx="7579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00B0F0"/>
                </a:solidFill>
              </a:rPr>
              <a:t>Desc.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097FDAC6-20F4-3E3A-4ECD-ECE2576B12F1}"/>
              </a:ext>
            </a:extLst>
          </p:cNvPr>
          <p:cNvCxnSpPr>
            <a:cxnSpLocks/>
            <a:stCxn id="30" idx="1"/>
          </p:cNvCxnSpPr>
          <p:nvPr/>
        </p:nvCxnSpPr>
        <p:spPr>
          <a:xfrm flipH="1" flipV="1">
            <a:off x="7289892" y="3182693"/>
            <a:ext cx="480425" cy="15474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220C5ED9-EEAD-3C04-F40D-F4E29E9D9061}"/>
              </a:ext>
            </a:extLst>
          </p:cNvPr>
          <p:cNvCxnSpPr>
            <a:stCxn id="30" idx="3"/>
          </p:cNvCxnSpPr>
          <p:nvPr/>
        </p:nvCxnSpPr>
        <p:spPr>
          <a:xfrm flipV="1">
            <a:off x="9016171" y="3021510"/>
            <a:ext cx="158107" cy="315932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CDB793DD-D4A4-2BF2-8C87-A3961371B953}"/>
              </a:ext>
            </a:extLst>
          </p:cNvPr>
          <p:cNvSpPr txBox="1"/>
          <p:nvPr/>
        </p:nvSpPr>
        <p:spPr>
          <a:xfrm>
            <a:off x="4909994" y="3149532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MCP JSON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74EEEF4-93A3-16EC-8553-E90DDAB4C8FD}"/>
              </a:ext>
            </a:extLst>
          </p:cNvPr>
          <p:cNvSpPr txBox="1"/>
          <p:nvPr/>
        </p:nvSpPr>
        <p:spPr>
          <a:xfrm>
            <a:off x="4983321" y="4199225"/>
            <a:ext cx="13254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Raw output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34416DF-6E6F-7BD4-A8EE-D9C370C20B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64637" y="934684"/>
            <a:ext cx="495777" cy="530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3021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6" grpId="0"/>
      <p:bldP spid="17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/>
      <p:bldP spid="25" grpId="0" animBg="1"/>
      <p:bldP spid="26" grpId="0" animBg="1"/>
      <p:bldP spid="44" grpId="0" animBg="1"/>
      <p:bldP spid="4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cartoon of a rabbit with a brain coming out of a computer screen&#10;&#10;AI-generated content may be incorrect.">
            <a:extLst>
              <a:ext uri="{FF2B5EF4-FFF2-40B4-BE49-F238E27FC236}">
                <a16:creationId xmlns:a16="http://schemas.microsoft.com/office/drawing/2014/main" id="{7A420AA4-716E-FE45-7EA9-7532B4AE4B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42" y="1565383"/>
            <a:ext cx="8435803" cy="49274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0D15D885-3899-22BE-4793-AC1C0441F7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477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dirty="0"/>
              <a:t>Conceptual data flow of Agent + MCP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8ADAE03-C94A-64C8-1D74-2DAEE01B0646}"/>
              </a:ext>
            </a:extLst>
          </p:cNvPr>
          <p:cNvSpPr txBox="1"/>
          <p:nvPr/>
        </p:nvSpPr>
        <p:spPr>
          <a:xfrm>
            <a:off x="4557407" y="4865731"/>
            <a:ext cx="1501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MCP Client</a:t>
            </a:r>
          </a:p>
          <a:p>
            <a:pPr algn="ctr"/>
            <a:r>
              <a:rPr lang="en-US" dirty="0"/>
              <a:t>(Agent Mode)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5898983-F8E5-CA64-FAC6-54A6B2285A33}"/>
              </a:ext>
            </a:extLst>
          </p:cNvPr>
          <p:cNvSpPr txBox="1"/>
          <p:nvPr/>
        </p:nvSpPr>
        <p:spPr>
          <a:xfrm>
            <a:off x="2302442" y="454703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2D66694-8E77-559B-3BF3-EBFBBF6AF4E2}"/>
              </a:ext>
            </a:extLst>
          </p:cNvPr>
          <p:cNvSpPr txBox="1"/>
          <p:nvPr/>
        </p:nvSpPr>
        <p:spPr>
          <a:xfrm>
            <a:off x="7426892" y="4916363"/>
            <a:ext cx="1340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MCP Server</a:t>
            </a:r>
          </a:p>
          <a:p>
            <a:pPr algn="ctr"/>
            <a:r>
              <a:rPr lang="en-US" dirty="0"/>
              <a:t>(</a:t>
            </a:r>
            <a:r>
              <a:rPr lang="en-US" u="sng" dirty="0"/>
              <a:t>your</a:t>
            </a:r>
            <a:r>
              <a:rPr lang="en-US" dirty="0"/>
              <a:t> code)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B7B842D-B6EC-A4A6-E31D-791690CB77EC}"/>
              </a:ext>
            </a:extLst>
          </p:cNvPr>
          <p:cNvSpPr txBox="1"/>
          <p:nvPr/>
        </p:nvSpPr>
        <p:spPr>
          <a:xfrm rot="2200018">
            <a:off x="3178742" y="3429000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MCP JSON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C6819D6-0760-4AF4-7237-A9AA62B00417}"/>
              </a:ext>
            </a:extLst>
          </p:cNvPr>
          <p:cNvSpPr txBox="1"/>
          <p:nvPr/>
        </p:nvSpPr>
        <p:spPr>
          <a:xfrm>
            <a:off x="6181038" y="3949114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MCP JSON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86F5465E-D920-821D-F21D-81B945728DA7}"/>
              </a:ext>
            </a:extLst>
          </p:cNvPr>
          <p:cNvSpPr txBox="1"/>
          <p:nvPr/>
        </p:nvSpPr>
        <p:spPr>
          <a:xfrm>
            <a:off x="2311818" y="2847662"/>
            <a:ext cx="701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8643F1D-EEAA-6102-634B-79AFBC491F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434" y="3763901"/>
            <a:ext cx="495777" cy="53045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14874C2-473B-8667-4FAF-34A9C78161DE}"/>
              </a:ext>
            </a:extLst>
          </p:cNvPr>
          <p:cNvSpPr txBox="1"/>
          <p:nvPr/>
        </p:nvSpPr>
        <p:spPr>
          <a:xfrm>
            <a:off x="9334500" y="3378200"/>
            <a:ext cx="20184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Your code</a:t>
            </a:r>
            <a:r>
              <a:rPr lang="en-US" dirty="0"/>
              <a:t> handles</a:t>
            </a:r>
            <a:br>
              <a:rPr lang="en-US" dirty="0"/>
            </a:br>
            <a:r>
              <a:rPr lang="en-US" dirty="0"/>
              <a:t>the request.</a:t>
            </a:r>
          </a:p>
          <a:p>
            <a:endParaRPr lang="en-US" dirty="0"/>
          </a:p>
          <a:p>
            <a:r>
              <a:rPr lang="en-US" dirty="0"/>
              <a:t>Not the Agent.</a:t>
            </a:r>
          </a:p>
          <a:p>
            <a:r>
              <a:rPr lang="en-US" dirty="0"/>
              <a:t>Not the LLM.</a:t>
            </a:r>
          </a:p>
        </p:txBody>
      </p:sp>
    </p:spTree>
    <p:extLst>
      <p:ext uri="{BB962C8B-B14F-4D97-AF65-F5344CB8AC3E}">
        <p14:creationId xmlns:p14="http://schemas.microsoft.com/office/powerpoint/2010/main" val="3522842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0B1E52-EB23-6C11-13CC-67E15085F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Picture 22" descr="A cartoon of a rabbit with a brain coming out of a computer screen&#10;&#10;AI-generated content may be incorrect.">
            <a:extLst>
              <a:ext uri="{FF2B5EF4-FFF2-40B4-BE49-F238E27FC236}">
                <a16:creationId xmlns:a16="http://schemas.microsoft.com/office/drawing/2014/main" id="{E323E212-FA5B-79CA-79DD-B78F0E7902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742" y="1565383"/>
            <a:ext cx="8435803" cy="4927492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3C72439-35BF-DC77-8D82-2EC6F8AB8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477"/>
            <a:ext cx="10515600" cy="1325563"/>
          </a:xfrm>
        </p:spPr>
        <p:txBody>
          <a:bodyPr>
            <a:noAutofit/>
          </a:bodyPr>
          <a:lstStyle/>
          <a:p>
            <a:r>
              <a:rPr lang="en-US" sz="4000" dirty="0"/>
              <a:t>Worked example - add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CBEDCA2-E99B-8445-C077-01AFC5C6A019}"/>
              </a:ext>
            </a:extLst>
          </p:cNvPr>
          <p:cNvSpPr txBox="1"/>
          <p:nvPr/>
        </p:nvSpPr>
        <p:spPr>
          <a:xfrm>
            <a:off x="4557407" y="4865731"/>
            <a:ext cx="1501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MCP Client</a:t>
            </a:r>
          </a:p>
          <a:p>
            <a:pPr algn="ctr"/>
            <a:r>
              <a:rPr lang="en-US" dirty="0"/>
              <a:t>(Agent Mode)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0637C7-5F72-9572-B75E-61F4381EF905}"/>
              </a:ext>
            </a:extLst>
          </p:cNvPr>
          <p:cNvSpPr txBox="1"/>
          <p:nvPr/>
        </p:nvSpPr>
        <p:spPr>
          <a:xfrm>
            <a:off x="2302442" y="454703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C41C6F5-5134-6AE9-F971-41FDDE8E5996}"/>
              </a:ext>
            </a:extLst>
          </p:cNvPr>
          <p:cNvSpPr txBox="1"/>
          <p:nvPr/>
        </p:nvSpPr>
        <p:spPr>
          <a:xfrm>
            <a:off x="7426892" y="4916363"/>
            <a:ext cx="1340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MCP Server</a:t>
            </a:r>
          </a:p>
          <a:p>
            <a:pPr algn="ctr"/>
            <a:r>
              <a:rPr lang="en-US" dirty="0"/>
              <a:t>(</a:t>
            </a:r>
            <a:r>
              <a:rPr lang="en-US" u="sng" dirty="0"/>
              <a:t>your</a:t>
            </a:r>
            <a:r>
              <a:rPr lang="en-US" dirty="0"/>
              <a:t> code)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04D5848-9834-B0AC-05C7-06541317A1C6}"/>
              </a:ext>
            </a:extLst>
          </p:cNvPr>
          <p:cNvSpPr txBox="1"/>
          <p:nvPr/>
        </p:nvSpPr>
        <p:spPr>
          <a:xfrm rot="2200018">
            <a:off x="3178742" y="3429000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MCP JSON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EDBBC97-E22B-65A1-71AB-33A3F81F59B3}"/>
              </a:ext>
            </a:extLst>
          </p:cNvPr>
          <p:cNvSpPr txBox="1"/>
          <p:nvPr/>
        </p:nvSpPr>
        <p:spPr>
          <a:xfrm>
            <a:off x="6181038" y="3949114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MCP JSON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D320FEBD-36C0-8D70-9A4E-EEB1FA38D849}"/>
              </a:ext>
            </a:extLst>
          </p:cNvPr>
          <p:cNvSpPr txBox="1"/>
          <p:nvPr/>
        </p:nvSpPr>
        <p:spPr>
          <a:xfrm>
            <a:off x="2311818" y="2847662"/>
            <a:ext cx="701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F03F5C-2E79-2C44-045C-BEFEF7965C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434" y="3763901"/>
            <a:ext cx="495777" cy="530456"/>
          </a:xfrm>
          <a:prstGeom prst="rect">
            <a:avLst/>
          </a:prstGeom>
        </p:spPr>
      </p:pic>
      <p:sp>
        <p:nvSpPr>
          <p:cNvPr id="6" name="Speech Bubble: Oval 5">
            <a:extLst>
              <a:ext uri="{FF2B5EF4-FFF2-40B4-BE49-F238E27FC236}">
                <a16:creationId xmlns:a16="http://schemas.microsoft.com/office/drawing/2014/main" id="{BC46AE48-23D6-614A-3A38-2949EC2651E3}"/>
              </a:ext>
            </a:extLst>
          </p:cNvPr>
          <p:cNvSpPr/>
          <p:nvPr/>
        </p:nvSpPr>
        <p:spPr>
          <a:xfrm>
            <a:off x="245368" y="2243673"/>
            <a:ext cx="1707538" cy="825500"/>
          </a:xfrm>
          <a:prstGeom prst="wedgeEllipseCallout">
            <a:avLst>
              <a:gd name="adj1" fmla="val -64925"/>
              <a:gd name="adj2" fmla="val 655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 three and five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1B72DC-DA05-C75E-3F05-F9FBE174ECC2}"/>
              </a:ext>
            </a:extLst>
          </p:cNvPr>
          <p:cNvSpPr txBox="1"/>
          <p:nvPr/>
        </p:nvSpPr>
        <p:spPr>
          <a:xfrm>
            <a:off x="9334500" y="3378200"/>
            <a:ext cx="2018438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u="sng" dirty="0"/>
              <a:t>Your code</a:t>
            </a:r>
            <a:r>
              <a:rPr lang="en-US" dirty="0"/>
              <a:t> handles</a:t>
            </a:r>
            <a:br>
              <a:rPr lang="en-US" dirty="0"/>
            </a:br>
            <a:r>
              <a:rPr lang="en-US" dirty="0"/>
              <a:t>the request.</a:t>
            </a:r>
          </a:p>
          <a:p>
            <a:endParaRPr lang="en-US" dirty="0"/>
          </a:p>
          <a:p>
            <a:r>
              <a:rPr lang="en-US" dirty="0"/>
              <a:t>Not the Agent.</a:t>
            </a:r>
          </a:p>
          <a:p>
            <a:r>
              <a:rPr lang="en-US" dirty="0"/>
              <a:t>Not the LLM.</a:t>
            </a:r>
          </a:p>
        </p:txBody>
      </p:sp>
      <p:sp>
        <p:nvSpPr>
          <p:cNvPr id="2" name="Thought Bubble: Cloud 1">
            <a:extLst>
              <a:ext uri="{FF2B5EF4-FFF2-40B4-BE49-F238E27FC236}">
                <a16:creationId xmlns:a16="http://schemas.microsoft.com/office/drawing/2014/main" id="{1828123C-E18C-6CC3-C12D-F3936FCCC57E}"/>
              </a:ext>
            </a:extLst>
          </p:cNvPr>
          <p:cNvSpPr/>
          <p:nvPr/>
        </p:nvSpPr>
        <p:spPr>
          <a:xfrm>
            <a:off x="3390220" y="1765300"/>
            <a:ext cx="2705780" cy="1132563"/>
          </a:xfrm>
          <a:prstGeom prst="cloudCallout">
            <a:avLst>
              <a:gd name="adj1" fmla="val -64456"/>
              <a:gd name="adj2" fmla="val 58028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add(a=3, b=5)</a:t>
            </a:r>
          </a:p>
        </p:txBody>
      </p:sp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51DBB913-033C-EA69-89DE-1017BBDFAFD8}"/>
              </a:ext>
            </a:extLst>
          </p:cNvPr>
          <p:cNvSpPr/>
          <p:nvPr/>
        </p:nvSpPr>
        <p:spPr>
          <a:xfrm>
            <a:off x="227480" y="3216994"/>
            <a:ext cx="1707538" cy="825500"/>
          </a:xfrm>
          <a:prstGeom prst="wedgeEllipseCallout">
            <a:avLst>
              <a:gd name="adj1" fmla="val -64925"/>
              <a:gd name="adj2" fmla="val 655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Tools:</a:t>
            </a:r>
            <a:br>
              <a:rPr lang="en-US" dirty="0"/>
            </a:br>
            <a:r>
              <a:rPr lang="en-US" dirty="0"/>
              <a:t>add(a, b)</a:t>
            </a:r>
          </a:p>
        </p:txBody>
      </p:sp>
      <p:sp>
        <p:nvSpPr>
          <p:cNvPr id="9" name="Speech Bubble: Oval 8">
            <a:extLst>
              <a:ext uri="{FF2B5EF4-FFF2-40B4-BE49-F238E27FC236}">
                <a16:creationId xmlns:a16="http://schemas.microsoft.com/office/drawing/2014/main" id="{9CCDD9F3-EC66-677F-1F17-53B2BB87C602}"/>
              </a:ext>
            </a:extLst>
          </p:cNvPr>
          <p:cNvSpPr/>
          <p:nvPr/>
        </p:nvSpPr>
        <p:spPr>
          <a:xfrm>
            <a:off x="3191731" y="4059143"/>
            <a:ext cx="794165" cy="366889"/>
          </a:xfrm>
          <a:prstGeom prst="wedgeEllipseCallout">
            <a:avLst>
              <a:gd name="adj1" fmla="val -83576"/>
              <a:gd name="adj2" fmla="val -88570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8</a:t>
            </a:r>
          </a:p>
        </p:txBody>
      </p:sp>
      <p:sp>
        <p:nvSpPr>
          <p:cNvPr id="11" name="Speech Bubble: Rectangle 10">
            <a:extLst>
              <a:ext uri="{FF2B5EF4-FFF2-40B4-BE49-F238E27FC236}">
                <a16:creationId xmlns:a16="http://schemas.microsoft.com/office/drawing/2014/main" id="{A5F9639B-9C4F-1AF4-B743-065AD523D13B}"/>
              </a:ext>
            </a:extLst>
          </p:cNvPr>
          <p:cNvSpPr/>
          <p:nvPr/>
        </p:nvSpPr>
        <p:spPr>
          <a:xfrm>
            <a:off x="9269807" y="2000495"/>
            <a:ext cx="1625297" cy="897368"/>
          </a:xfrm>
          <a:prstGeom prst="wedgeRectCallout">
            <a:avLst>
              <a:gd name="adj1" fmla="val -92437"/>
              <a:gd name="adj2" fmla="val 71051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/>
              <a:t>def add(a, b):</a:t>
            </a:r>
          </a:p>
          <a:p>
            <a:r>
              <a:rPr lang="en-US" dirty="0"/>
              <a:t>    return a + b</a:t>
            </a:r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89626118-11B7-E14E-8EC0-A38127723D2B}"/>
              </a:ext>
            </a:extLst>
          </p:cNvPr>
          <p:cNvSpPr/>
          <p:nvPr/>
        </p:nvSpPr>
        <p:spPr>
          <a:xfrm>
            <a:off x="4010025" y="2918133"/>
            <a:ext cx="2992581" cy="5304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add(a=3, b=5)</a:t>
            </a:r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34988E30-E58E-695C-47B0-39D7FBAF34D5}"/>
              </a:ext>
            </a:extLst>
          </p:cNvPr>
          <p:cNvSpPr/>
          <p:nvPr/>
        </p:nvSpPr>
        <p:spPr>
          <a:xfrm flipH="1">
            <a:off x="3659620" y="5512062"/>
            <a:ext cx="3527531" cy="5304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 result: 8 }</a:t>
            </a:r>
          </a:p>
        </p:txBody>
      </p:sp>
    </p:spTree>
    <p:extLst>
      <p:ext uri="{BB962C8B-B14F-4D97-AF65-F5344CB8AC3E}">
        <p14:creationId xmlns:p14="http://schemas.microsoft.com/office/powerpoint/2010/main" val="7610484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 animBg="1"/>
      <p:bldP spid="3" grpId="0" animBg="1"/>
      <p:bldP spid="9" grpId="0" animBg="1"/>
      <p:bldP spid="12" grpId="0" animBg="1"/>
      <p:bldP spid="13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11E668-30CE-45D4-A465-1F60F14ED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Agent sends Tool Descriptions with Context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F4292B-1E6E-0D4B-8F00-C2D02CC4BE7F}"/>
              </a:ext>
            </a:extLst>
          </p:cNvPr>
          <p:cNvSpPr txBox="1"/>
          <p:nvPr/>
        </p:nvSpPr>
        <p:spPr>
          <a:xfrm>
            <a:off x="509789" y="1426865"/>
            <a:ext cx="6142149" cy="483209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"tools"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[</a:t>
            </a:r>
            <a:br>
              <a:rPr lang="en-US" sz="1400" dirty="0"/>
            </a:br>
            <a:r>
              <a:rPr lang="en-US" sz="1400" dirty="0"/>
              <a:t>        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{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"name"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"add"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"description"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"Add two numbers"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US" sz="1400" b="0" i="0" dirty="0" err="1">
                <a:solidFill>
                  <a:srgbClr val="C41A16"/>
                </a:solidFill>
                <a:effectLst/>
                <a:latin typeface="source-code-pro"/>
              </a:rPr>
              <a:t>inputSchema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{</a:t>
            </a:r>
            <a:br>
              <a:rPr lang="en-US" sz="1400" dirty="0"/>
            </a:br>
            <a:r>
              <a:rPr lang="en-US" sz="1400" dirty="0"/>
              <a:t>		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"properties"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{</a:t>
            </a:r>
            <a:br>
              <a:rPr lang="en-US" sz="1400" dirty="0"/>
            </a:br>
            <a:r>
              <a:rPr lang="en-US" sz="1400" dirty="0"/>
              <a:t>			</a:t>
            </a:r>
            <a:r>
              <a:rPr lang="en-US" sz="1400" dirty="0">
                <a:solidFill>
                  <a:srgbClr val="C41A16"/>
                </a:solidFill>
                <a:latin typeface="source-code-pro"/>
              </a:rPr>
              <a:t>"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a"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{</a:t>
            </a:r>
            <a:br>
              <a:rPr lang="en-US" sz="1400" dirty="0"/>
            </a:br>
            <a:r>
              <a:rPr lang="en-US" sz="1400" dirty="0"/>
              <a:t>				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"title"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1400" dirty="0">
                <a:solidFill>
                  <a:srgbClr val="C41A16"/>
                </a:solidFill>
                <a:latin typeface="source-code-pro"/>
              </a:rPr>
              <a:t>"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a"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1400" dirty="0"/>
            </a:br>
            <a:r>
              <a:rPr lang="en-US" sz="1400" dirty="0"/>
              <a:t>				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"type"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1400" dirty="0">
                <a:solidFill>
                  <a:srgbClr val="C41A16"/>
                </a:solidFill>
                <a:latin typeface="source-code-pro"/>
              </a:rPr>
              <a:t>"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int"</a:t>
            </a:r>
            <a:br>
              <a:rPr lang="en-US" sz="1400" dirty="0"/>
            </a:br>
            <a:r>
              <a:rPr lang="en-US" sz="1400" dirty="0"/>
              <a:t>			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},</a:t>
            </a:r>
            <a:br>
              <a:rPr lang="en-US" sz="1400" dirty="0"/>
            </a:br>
            <a:r>
              <a:rPr lang="en-US" sz="1400" dirty="0"/>
              <a:t>			</a:t>
            </a:r>
            <a:r>
              <a:rPr lang="en-US" sz="1400" dirty="0">
                <a:solidFill>
                  <a:srgbClr val="C41A16"/>
                </a:solidFill>
                <a:latin typeface="source-code-pro"/>
              </a:rPr>
              <a:t>"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b"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{</a:t>
            </a:r>
            <a:br>
              <a:rPr lang="en-US" sz="1400" dirty="0"/>
            </a:br>
            <a:r>
              <a:rPr lang="en-US" sz="1400" dirty="0"/>
              <a:t>				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"title"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1400" dirty="0">
                <a:solidFill>
                  <a:srgbClr val="C41A16"/>
                </a:solidFill>
                <a:latin typeface="source-code-pro"/>
              </a:rPr>
              <a:t>"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b"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1400" dirty="0"/>
            </a:br>
            <a:r>
              <a:rPr lang="en-US" sz="1400" dirty="0"/>
              <a:t>				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"type"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1400" dirty="0">
                <a:solidFill>
                  <a:srgbClr val="C41A16"/>
                </a:solidFill>
                <a:latin typeface="source-code-pro"/>
              </a:rPr>
              <a:t>"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int"</a:t>
            </a:r>
            <a:br>
              <a:rPr lang="en-US" sz="1400" dirty="0"/>
            </a:br>
            <a:r>
              <a:rPr lang="en-US" sz="1400" dirty="0"/>
              <a:t>			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br>
              <a:rPr lang="en-US" sz="1400" dirty="0"/>
            </a:br>
            <a:r>
              <a:rPr lang="en-US" sz="1400" dirty="0"/>
              <a:t>		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},</a:t>
            </a:r>
            <a:br>
              <a:rPr lang="en-US" sz="1400" dirty="0"/>
            </a:br>
            <a:r>
              <a:rPr lang="en-US" sz="1400" dirty="0"/>
              <a:t>		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"required"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: [</a:t>
            </a:r>
            <a:br>
              <a:rPr lang="en-US" sz="1400" dirty="0"/>
            </a:br>
            <a:r>
              <a:rPr lang="en-US" sz="1400" dirty="0"/>
              <a:t>			</a:t>
            </a:r>
            <a:r>
              <a:rPr lang="en-US" sz="1400" dirty="0">
                <a:solidFill>
                  <a:srgbClr val="C41A16"/>
                </a:solidFill>
                <a:latin typeface="source-code-pro"/>
              </a:rPr>
              <a:t>"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a"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1400" dirty="0"/>
            </a:br>
            <a:r>
              <a:rPr lang="en-US" sz="1400" dirty="0"/>
              <a:t>			</a:t>
            </a:r>
            <a:r>
              <a:rPr lang="en-US" sz="1400" dirty="0">
                <a:solidFill>
                  <a:srgbClr val="C41A16"/>
                </a:solidFill>
                <a:latin typeface="source-code-pro"/>
              </a:rPr>
              <a:t>"</a:t>
            </a:r>
            <a:r>
              <a:rPr lang="en-US" sz="1400" b="0" i="0" dirty="0">
                <a:solidFill>
                  <a:srgbClr val="C41A16"/>
                </a:solidFill>
                <a:effectLst/>
                <a:latin typeface="source-code-pro"/>
              </a:rPr>
              <a:t>b"</a:t>
            </a:r>
            <a:br>
              <a:rPr lang="en-US" sz="1400" dirty="0"/>
            </a:br>
            <a:r>
              <a:rPr lang="en-US" sz="1400" dirty="0"/>
              <a:t>		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]</a:t>
            </a:r>
            <a:br>
              <a:rPr lang="en-US" sz="1400" dirty="0"/>
            </a:br>
            <a:r>
              <a:rPr lang="en-US" sz="1400" dirty="0"/>
              <a:t>	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br>
              <a:rPr lang="en-US" sz="1400" dirty="0"/>
            </a:br>
            <a:r>
              <a:rPr lang="en-US" sz="1400" dirty="0"/>
              <a:t>        </a:t>
            </a: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br>
              <a:rPr lang="en-US" sz="1400" dirty="0"/>
            </a:br>
            <a:r>
              <a:rPr lang="en-US" sz="1400" b="0" i="0" dirty="0">
                <a:solidFill>
                  <a:srgbClr val="242424"/>
                </a:solidFill>
                <a:effectLst/>
                <a:latin typeface="source-code-pro"/>
              </a:rPr>
              <a:t>]</a:t>
            </a:r>
            <a:endParaRPr lang="en-US" sz="1400" dirty="0"/>
          </a:p>
        </p:txBody>
      </p:sp>
      <p:pic>
        <p:nvPicPr>
          <p:cNvPr id="6" name="Picture 5" descr="A cartoon of a rabbit with a brain coming out of a computer screen&#10;&#10;AI-generated content may be incorrect.">
            <a:extLst>
              <a:ext uri="{FF2B5EF4-FFF2-40B4-BE49-F238E27FC236}">
                <a16:creationId xmlns:a16="http://schemas.microsoft.com/office/drawing/2014/main" id="{3DE864D6-9A11-FAC7-AF42-EC9F8AD94D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852" r="64439"/>
          <a:stretch>
            <a:fillRect/>
          </a:stretch>
        </p:blipFill>
        <p:spPr>
          <a:xfrm>
            <a:off x="8062175" y="1426865"/>
            <a:ext cx="2337515" cy="49274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B2179E-D188-7F74-2252-1624F4492B15}"/>
              </a:ext>
            </a:extLst>
          </p:cNvPr>
          <p:cNvSpPr txBox="1"/>
          <p:nvPr/>
        </p:nvSpPr>
        <p:spPr>
          <a:xfrm>
            <a:off x="9171545" y="4408513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806654C-3E0B-4C25-7577-4784D83A0683}"/>
              </a:ext>
            </a:extLst>
          </p:cNvPr>
          <p:cNvSpPr txBox="1"/>
          <p:nvPr/>
        </p:nvSpPr>
        <p:spPr>
          <a:xfrm>
            <a:off x="9180921" y="2709144"/>
            <a:ext cx="701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Tools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134CD6-7F75-BA7F-9CBC-FEFB205F6359}"/>
              </a:ext>
            </a:extLst>
          </p:cNvPr>
          <p:cNvCxnSpPr>
            <a:cxnSpLocks/>
          </p:cNvCxnSpPr>
          <p:nvPr/>
        </p:nvCxnSpPr>
        <p:spPr>
          <a:xfrm>
            <a:off x="6651938" y="1426865"/>
            <a:ext cx="2646608" cy="128227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C5EC403-411C-E647-EB56-827C2E06CF93}"/>
              </a:ext>
            </a:extLst>
          </p:cNvPr>
          <p:cNvCxnSpPr>
            <a:cxnSpLocks/>
          </p:cNvCxnSpPr>
          <p:nvPr/>
        </p:nvCxnSpPr>
        <p:spPr>
          <a:xfrm flipV="1">
            <a:off x="6651938" y="3129566"/>
            <a:ext cx="2646608" cy="3129391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4F063A46-B971-6EA3-1D34-1555DA20B385}"/>
              </a:ext>
            </a:extLst>
          </p:cNvPr>
          <p:cNvSpPr txBox="1"/>
          <p:nvPr/>
        </p:nvSpPr>
        <p:spPr>
          <a:xfrm>
            <a:off x="866105" y="6310047"/>
            <a:ext cx="609492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050" dirty="0">
                <a:hlinkClick r:id="rId3"/>
              </a:rPr>
              <a:t>Deep Dive: Understanding MCP Client-Server Communication with Agent and LLM | by James Tang | Medium</a:t>
            </a:r>
            <a:endParaRPr lang="en-US" sz="1050" dirty="0"/>
          </a:p>
        </p:txBody>
      </p:sp>
      <p:sp>
        <p:nvSpPr>
          <p:cNvPr id="3" name="Speech Bubble: Oval 2">
            <a:extLst>
              <a:ext uri="{FF2B5EF4-FFF2-40B4-BE49-F238E27FC236}">
                <a16:creationId xmlns:a16="http://schemas.microsoft.com/office/drawing/2014/main" id="{00AB98CB-1B2C-B96A-FA8B-2057C72573C1}"/>
              </a:ext>
            </a:extLst>
          </p:cNvPr>
          <p:cNvSpPr/>
          <p:nvPr/>
        </p:nvSpPr>
        <p:spPr>
          <a:xfrm>
            <a:off x="6972859" y="2481060"/>
            <a:ext cx="1707538" cy="825500"/>
          </a:xfrm>
          <a:prstGeom prst="wedgeEllipseCallout">
            <a:avLst>
              <a:gd name="adj1" fmla="val -64925"/>
              <a:gd name="adj2" fmla="val 65577"/>
            </a:avLst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Tools:</a:t>
            </a:r>
            <a:br>
              <a:rPr lang="en-US" dirty="0"/>
            </a:br>
            <a:r>
              <a:rPr lang="en-US" dirty="0"/>
              <a:t>add(a, b)</a:t>
            </a:r>
          </a:p>
        </p:txBody>
      </p:sp>
    </p:spTree>
    <p:extLst>
      <p:ext uri="{BB962C8B-B14F-4D97-AF65-F5344CB8AC3E}">
        <p14:creationId xmlns:p14="http://schemas.microsoft.com/office/powerpoint/2010/main" val="5082134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46E33A-F380-3143-7C8D-E956C9D6A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 Request object from LLM</a:t>
            </a:r>
          </a:p>
        </p:txBody>
      </p:sp>
      <p:pic>
        <p:nvPicPr>
          <p:cNvPr id="4" name="Picture 3" descr="A cartoon of a rabbit with a brain coming out of a computer screen&#10;&#10;AI-generated content may be incorrect.">
            <a:extLst>
              <a:ext uri="{FF2B5EF4-FFF2-40B4-BE49-F238E27FC236}">
                <a16:creationId xmlns:a16="http://schemas.microsoft.com/office/drawing/2014/main" id="{7073D04A-C241-3F15-B586-9D3460A186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5134" b="13804"/>
          <a:stretch>
            <a:fillRect/>
          </a:stretch>
        </p:blipFill>
        <p:spPr>
          <a:xfrm>
            <a:off x="520701" y="1565383"/>
            <a:ext cx="3784852" cy="42473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345D5A7-7683-859C-E57C-F6D0B34AA514}"/>
              </a:ext>
            </a:extLst>
          </p:cNvPr>
          <p:cNvSpPr txBox="1"/>
          <p:nvPr/>
        </p:nvSpPr>
        <p:spPr>
          <a:xfrm>
            <a:off x="2320609" y="4547031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358F8E7-A73B-C749-5CE7-1B77979E9015}"/>
              </a:ext>
            </a:extLst>
          </p:cNvPr>
          <p:cNvSpPr txBox="1"/>
          <p:nvPr/>
        </p:nvSpPr>
        <p:spPr>
          <a:xfrm rot="2200018">
            <a:off x="3178742" y="3429000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MCP JSON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2E16BDD-EDD9-939E-0CD1-C6A654EB7CBB}"/>
              </a:ext>
            </a:extLst>
          </p:cNvPr>
          <p:cNvSpPr txBox="1"/>
          <p:nvPr/>
        </p:nvSpPr>
        <p:spPr>
          <a:xfrm>
            <a:off x="4740032" y="2182470"/>
            <a:ext cx="6094990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{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"method"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2400" b="0" i="0" dirty="0">
                <a:solidFill>
                  <a:srgbClr val="C41A16"/>
                </a:solidFill>
                <a:effectLst/>
                <a:latin typeface="source-code-pro"/>
              </a:rPr>
              <a:t>"tools/call"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"params"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{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"name"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2400" b="0" i="0" dirty="0">
                <a:solidFill>
                  <a:srgbClr val="C41A16"/>
                </a:solidFill>
                <a:effectLst/>
                <a:latin typeface="source-code-pro"/>
              </a:rPr>
              <a:t>"add"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"arguments"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{</a:t>
            </a:r>
            <a:br>
              <a:rPr lang="en-US" sz="2400" dirty="0"/>
            </a:br>
            <a:r>
              <a:rPr lang="en-US" sz="2400" dirty="0"/>
              <a:t>			</a:t>
            </a:r>
            <a:r>
              <a:rPr lang="en-US" sz="2400" dirty="0">
                <a:solidFill>
                  <a:srgbClr val="836C28"/>
                </a:solidFill>
                <a:latin typeface="source-code-pro"/>
              </a:rPr>
              <a:t>"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a"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2400" b="0" i="0" dirty="0">
                <a:solidFill>
                  <a:srgbClr val="1C00CF"/>
                </a:solidFill>
                <a:effectLst/>
                <a:latin typeface="source-code-pro"/>
              </a:rPr>
              <a:t>3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2400" dirty="0"/>
            </a:br>
            <a:r>
              <a:rPr lang="en-US" sz="2400" dirty="0"/>
              <a:t>			</a:t>
            </a:r>
            <a:r>
              <a:rPr lang="en-US" sz="2400" dirty="0">
                <a:solidFill>
                  <a:srgbClr val="836C28"/>
                </a:solidFill>
                <a:latin typeface="source-code-pro"/>
              </a:rPr>
              <a:t>"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b"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2400" b="0" i="0" dirty="0">
                <a:solidFill>
                  <a:srgbClr val="1C00CF"/>
                </a:solidFill>
                <a:effectLst/>
                <a:latin typeface="source-code-pro"/>
              </a:rPr>
              <a:t>5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br>
              <a:rPr lang="en-US" sz="2400" dirty="0"/>
            </a:b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endParaRPr lang="en-US" sz="2400" dirty="0"/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4B6D3F5C-EAB4-1CA1-43FE-E5308DB2DF3D}"/>
              </a:ext>
            </a:extLst>
          </p:cNvPr>
          <p:cNvSpPr/>
          <p:nvPr/>
        </p:nvSpPr>
        <p:spPr>
          <a:xfrm>
            <a:off x="4305553" y="2182469"/>
            <a:ext cx="322461" cy="3785651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60CA154-D10D-56AC-A5F3-E713710DC2B8}"/>
              </a:ext>
            </a:extLst>
          </p:cNvPr>
          <p:cNvSpPr txBox="1"/>
          <p:nvPr/>
        </p:nvSpPr>
        <p:spPr>
          <a:xfrm>
            <a:off x="4740032" y="5968120"/>
            <a:ext cx="59088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LLM </a:t>
            </a:r>
            <a:r>
              <a:rPr lang="en-US" i="1" dirty="0"/>
              <a:t>emits</a:t>
            </a:r>
            <a:r>
              <a:rPr lang="en-US" dirty="0"/>
              <a:t> precise JSON in its response to the Agent.</a:t>
            </a:r>
          </a:p>
          <a:p>
            <a:pPr algn="ctr"/>
            <a:r>
              <a:rPr lang="en-US" dirty="0"/>
              <a:t>(Nothing can possibly go wrong with this plan)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04DA94F-D312-40F3-A59A-68D2C85C7187}"/>
              </a:ext>
            </a:extLst>
          </p:cNvPr>
          <p:cNvSpPr txBox="1"/>
          <p:nvPr/>
        </p:nvSpPr>
        <p:spPr>
          <a:xfrm>
            <a:off x="2275367" y="2884507"/>
            <a:ext cx="7016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Tools</a:t>
            </a:r>
          </a:p>
        </p:txBody>
      </p:sp>
      <p:pic>
        <p:nvPicPr>
          <p:cNvPr id="9" name="Picture 8" descr="A cartoon of a rabbit with a brain coming out of a computer screen&#10;&#10;AI-generated content may be incorrect.">
            <a:extLst>
              <a:ext uri="{FF2B5EF4-FFF2-40B4-BE49-F238E27FC236}">
                <a16:creationId xmlns:a16="http://schemas.microsoft.com/office/drawing/2014/main" id="{3BADDBC4-A6AA-A19B-A91A-CEEAB6DC91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96" r="30347"/>
          <a:stretch>
            <a:fillRect/>
          </a:stretch>
        </p:blipFill>
        <p:spPr>
          <a:xfrm>
            <a:off x="10835022" y="1959083"/>
            <a:ext cx="1738901" cy="4086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3767EA8-0367-1EC7-6976-FAB35707B0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56584" y="3736967"/>
            <a:ext cx="495777" cy="5304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14EA9DF3-44F9-3DF4-A8CB-C44BA8D50622}"/>
              </a:ext>
            </a:extLst>
          </p:cNvPr>
          <p:cNvSpPr txBox="1"/>
          <p:nvPr/>
        </p:nvSpPr>
        <p:spPr>
          <a:xfrm>
            <a:off x="10754754" y="4738047"/>
            <a:ext cx="1501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MCP Client</a:t>
            </a:r>
          </a:p>
          <a:p>
            <a:pPr algn="ctr"/>
            <a:r>
              <a:rPr lang="en-US" dirty="0"/>
              <a:t>(Agent Mode)</a:t>
            </a:r>
          </a:p>
        </p:txBody>
      </p:sp>
      <p:sp>
        <p:nvSpPr>
          <p:cNvPr id="16" name="Arrow: Right 15">
            <a:extLst>
              <a:ext uri="{FF2B5EF4-FFF2-40B4-BE49-F238E27FC236}">
                <a16:creationId xmlns:a16="http://schemas.microsoft.com/office/drawing/2014/main" id="{200D0C25-E252-ACD5-C703-4E243BDE84A1}"/>
              </a:ext>
            </a:extLst>
          </p:cNvPr>
          <p:cNvSpPr/>
          <p:nvPr/>
        </p:nvSpPr>
        <p:spPr>
          <a:xfrm>
            <a:off x="3240705" y="2716631"/>
            <a:ext cx="1775657" cy="5304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add(a=3, b=5)</a:t>
            </a:r>
          </a:p>
        </p:txBody>
      </p:sp>
    </p:spTree>
    <p:extLst>
      <p:ext uri="{BB962C8B-B14F-4D97-AF65-F5344CB8AC3E}">
        <p14:creationId xmlns:p14="http://schemas.microsoft.com/office/powerpoint/2010/main" val="7455381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9A4B7B-E6AE-D82D-0146-03405F3D32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89600B-C19C-8D32-9E95-61D653767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Agent Mode passes the JSON to your server.</a:t>
            </a:r>
            <a:br>
              <a:rPr lang="en-US" dirty="0"/>
            </a:br>
            <a:r>
              <a:rPr lang="en-US" dirty="0"/>
              <a:t>Now </a:t>
            </a:r>
            <a:r>
              <a:rPr lang="en-US" u="sng" dirty="0"/>
              <a:t>your</a:t>
            </a:r>
            <a:r>
              <a:rPr lang="en-US" dirty="0"/>
              <a:t> code can </a:t>
            </a:r>
            <a:r>
              <a:rPr lang="en-US" u="sng" dirty="0"/>
              <a:t>act</a:t>
            </a:r>
            <a:r>
              <a:rPr lang="en-US" dirty="0"/>
              <a:t> on it.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0693631-32BA-EBDA-95C4-6B8A3DF79EF1}"/>
              </a:ext>
            </a:extLst>
          </p:cNvPr>
          <p:cNvSpPr txBox="1"/>
          <p:nvPr/>
        </p:nvSpPr>
        <p:spPr>
          <a:xfrm>
            <a:off x="2369536" y="1871659"/>
            <a:ext cx="6094990" cy="37856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{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"method"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2400" b="0" i="0" dirty="0">
                <a:solidFill>
                  <a:srgbClr val="C41A16"/>
                </a:solidFill>
                <a:effectLst/>
                <a:latin typeface="source-code-pro"/>
              </a:rPr>
              <a:t>"tools/call"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"params"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{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"name"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2400" b="0" i="0" dirty="0">
                <a:solidFill>
                  <a:srgbClr val="C41A16"/>
                </a:solidFill>
                <a:effectLst/>
                <a:latin typeface="source-code-pro"/>
              </a:rPr>
              <a:t>"add"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"arguments"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{</a:t>
            </a:r>
            <a:br>
              <a:rPr lang="en-US" sz="2400" dirty="0"/>
            </a:br>
            <a:r>
              <a:rPr lang="en-US" sz="2400" dirty="0"/>
              <a:t>			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“a"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2400" b="0" i="0" dirty="0">
                <a:solidFill>
                  <a:srgbClr val="1C00CF"/>
                </a:solidFill>
                <a:effectLst/>
                <a:latin typeface="source-code-pro"/>
              </a:rPr>
              <a:t>3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2400" dirty="0"/>
            </a:br>
            <a:r>
              <a:rPr lang="en-US" sz="2400" dirty="0"/>
              <a:t>			</a:t>
            </a:r>
            <a:r>
              <a:rPr lang="en-US" sz="2400" b="0" i="0" dirty="0">
                <a:solidFill>
                  <a:srgbClr val="836C28"/>
                </a:solidFill>
                <a:effectLst/>
                <a:latin typeface="source-code-pro"/>
              </a:rPr>
              <a:t>“b"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2400" b="0" i="0" dirty="0">
                <a:solidFill>
                  <a:srgbClr val="1C00CF"/>
                </a:solidFill>
                <a:effectLst/>
                <a:latin typeface="source-code-pro"/>
              </a:rPr>
              <a:t>5</a:t>
            </a:r>
            <a:br>
              <a:rPr lang="en-US" sz="2400" dirty="0"/>
            </a:br>
            <a:r>
              <a:rPr lang="en-US" sz="2400" dirty="0"/>
              <a:t>		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br>
              <a:rPr lang="en-US" sz="2400" dirty="0"/>
            </a:br>
            <a:r>
              <a:rPr lang="en-US" sz="2400" dirty="0"/>
              <a:t>	</a:t>
            </a: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br>
              <a:rPr lang="en-US" sz="2400" dirty="0"/>
            </a:br>
            <a:r>
              <a:rPr lang="en-US" sz="2400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  <a:endParaRPr lang="en-US" sz="2400" dirty="0"/>
          </a:p>
        </p:txBody>
      </p:sp>
      <p:pic>
        <p:nvPicPr>
          <p:cNvPr id="3" name="Picture 2" descr="A cartoon of a rabbit with a brain coming out of a computer screen&#10;&#10;AI-generated content may be incorrect.">
            <a:extLst>
              <a:ext uri="{FF2B5EF4-FFF2-40B4-BE49-F238E27FC236}">
                <a16:creationId xmlns:a16="http://schemas.microsoft.com/office/drawing/2014/main" id="{556483FF-D4C5-3047-05DC-75AE35502D7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8286" t="7045"/>
          <a:stretch>
            <a:fillRect/>
          </a:stretch>
        </p:blipFill>
        <p:spPr>
          <a:xfrm>
            <a:off x="8913432" y="1545465"/>
            <a:ext cx="2675329" cy="458036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1E0D41A-BE6C-8D35-2A10-FD8E42549955}"/>
              </a:ext>
            </a:extLst>
          </p:cNvPr>
          <p:cNvSpPr txBox="1"/>
          <p:nvPr/>
        </p:nvSpPr>
        <p:spPr>
          <a:xfrm>
            <a:off x="10059150" y="4549315"/>
            <a:ext cx="1340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MCP Server</a:t>
            </a:r>
          </a:p>
          <a:p>
            <a:pPr algn="ctr"/>
            <a:r>
              <a:rPr lang="en-US" dirty="0"/>
              <a:t>(</a:t>
            </a:r>
            <a:r>
              <a:rPr lang="en-US" u="sng" dirty="0"/>
              <a:t>your</a:t>
            </a:r>
            <a:r>
              <a:rPr lang="en-US" dirty="0"/>
              <a:t> code)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2847707-8E3B-7A52-6B30-47292F3960C4}"/>
              </a:ext>
            </a:extLst>
          </p:cNvPr>
          <p:cNvSpPr txBox="1"/>
          <p:nvPr/>
        </p:nvSpPr>
        <p:spPr>
          <a:xfrm>
            <a:off x="8813296" y="3582066"/>
            <a:ext cx="12458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MCP JSON</a:t>
            </a:r>
          </a:p>
        </p:txBody>
      </p:sp>
      <p:sp>
        <p:nvSpPr>
          <p:cNvPr id="9" name="Left Brace 8">
            <a:extLst>
              <a:ext uri="{FF2B5EF4-FFF2-40B4-BE49-F238E27FC236}">
                <a16:creationId xmlns:a16="http://schemas.microsoft.com/office/drawing/2014/main" id="{74D5E888-D2CF-C9EF-8527-C8AE53AD5A89}"/>
              </a:ext>
            </a:extLst>
          </p:cNvPr>
          <p:cNvSpPr/>
          <p:nvPr/>
        </p:nvSpPr>
        <p:spPr>
          <a:xfrm flipH="1">
            <a:off x="8502148" y="1892532"/>
            <a:ext cx="311147" cy="3743906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438EDCA-ACCA-02DE-1372-A1A2591ABCFB}"/>
              </a:ext>
            </a:extLst>
          </p:cNvPr>
          <p:cNvSpPr txBox="1"/>
          <p:nvPr/>
        </p:nvSpPr>
        <p:spPr>
          <a:xfrm>
            <a:off x="2920065" y="5838282"/>
            <a:ext cx="49939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has reduced to a very ordinary web-dev task.</a:t>
            </a:r>
          </a:p>
        </p:txBody>
      </p:sp>
      <p:pic>
        <p:nvPicPr>
          <p:cNvPr id="8" name="Picture 7" descr="A cartoon of a rabbit with a brain coming out of a computer screen&#10;&#10;AI-generated content may be incorrect.">
            <a:extLst>
              <a:ext uri="{FF2B5EF4-FFF2-40B4-BE49-F238E27FC236}">
                <a16:creationId xmlns:a16="http://schemas.microsoft.com/office/drawing/2014/main" id="{2C95E9BE-22D0-C6CC-39F5-72BECC7F773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4796" r="19998"/>
          <a:stretch>
            <a:fillRect/>
          </a:stretch>
        </p:blipFill>
        <p:spPr>
          <a:xfrm>
            <a:off x="-115640" y="1792532"/>
            <a:ext cx="2462846" cy="408622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008050C-4B36-540F-0BA3-D4270782D7AA}"/>
              </a:ext>
            </a:extLst>
          </p:cNvPr>
          <p:cNvSpPr txBox="1"/>
          <p:nvPr/>
        </p:nvSpPr>
        <p:spPr>
          <a:xfrm>
            <a:off x="94378" y="4557010"/>
            <a:ext cx="150188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MCP Client</a:t>
            </a:r>
          </a:p>
          <a:p>
            <a:pPr algn="ctr"/>
            <a:r>
              <a:rPr lang="en-US" dirty="0"/>
              <a:t>(Agent Mode)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BC9801C7-5AE5-D3C9-BA5A-C25C0FAF58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27" y="3570416"/>
            <a:ext cx="495777" cy="530456"/>
          </a:xfrm>
          <a:prstGeom prst="rect">
            <a:avLst/>
          </a:prstGeom>
        </p:spPr>
      </p:pic>
      <p:sp>
        <p:nvSpPr>
          <p:cNvPr id="12" name="Arrow: Right 11">
            <a:extLst>
              <a:ext uri="{FF2B5EF4-FFF2-40B4-BE49-F238E27FC236}">
                <a16:creationId xmlns:a16="http://schemas.microsoft.com/office/drawing/2014/main" id="{41D10D96-1431-7567-28FB-0833DA228962}"/>
              </a:ext>
            </a:extLst>
          </p:cNvPr>
          <p:cNvSpPr/>
          <p:nvPr/>
        </p:nvSpPr>
        <p:spPr>
          <a:xfrm flipH="1">
            <a:off x="3653264" y="6227647"/>
            <a:ext cx="3527531" cy="530456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{ result: 8 }</a:t>
            </a:r>
          </a:p>
        </p:txBody>
      </p:sp>
    </p:spTree>
    <p:extLst>
      <p:ext uri="{BB962C8B-B14F-4D97-AF65-F5344CB8AC3E}">
        <p14:creationId xmlns:p14="http://schemas.microsoft.com/office/powerpoint/2010/main" val="2269356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E4693-A3B9-1599-28A4-9B6B48301B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FastMCP</a:t>
            </a:r>
            <a:r>
              <a:rPr lang="en-US" dirty="0"/>
              <a:t> abstracts out the JSON and server</a:t>
            </a:r>
          </a:p>
        </p:txBody>
      </p:sp>
      <p:pic>
        <p:nvPicPr>
          <p:cNvPr id="5" name="Content Placeholder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63CF6B6D-6404-12AC-1333-C5C9AA385C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14366" y="2363546"/>
            <a:ext cx="5863376" cy="2607889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C8F0A26-7709-AF15-7836-98737E9D4BF2}"/>
              </a:ext>
            </a:extLst>
          </p:cNvPr>
          <p:cNvSpPr txBox="1"/>
          <p:nvPr/>
        </p:nvSpPr>
        <p:spPr>
          <a:xfrm>
            <a:off x="5698580" y="4979752"/>
            <a:ext cx="60949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hlinkClick r:id="rId3"/>
              </a:rPr>
              <a:t>https://github.com/modelcontextprotocol/python-sdk</a:t>
            </a:r>
            <a:r>
              <a:rPr lang="en-US" dirty="0"/>
              <a:t>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FBFAE0-88A9-B191-03CD-68EA0CE9F935}"/>
              </a:ext>
            </a:extLst>
          </p:cNvPr>
          <p:cNvSpPr txBox="1"/>
          <p:nvPr/>
        </p:nvSpPr>
        <p:spPr>
          <a:xfrm>
            <a:off x="5814366" y="5570467"/>
            <a:ext cx="59791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The </a:t>
            </a:r>
            <a:r>
              <a:rPr lang="en-US" dirty="0" err="1"/>
              <a:t>FastMCP</a:t>
            </a:r>
            <a:r>
              <a:rPr lang="en-US" dirty="0"/>
              <a:t> Framework will </a:t>
            </a:r>
            <a:r>
              <a:rPr lang="en-US" b="1" dirty="0"/>
              <a:t>generate</a:t>
            </a:r>
            <a:r>
              <a:rPr lang="en-US" dirty="0"/>
              <a:t> an LLM-friendly description of this API from the code and annotations.</a:t>
            </a:r>
          </a:p>
        </p:txBody>
      </p:sp>
      <p:pic>
        <p:nvPicPr>
          <p:cNvPr id="15" name="Picture 14" descr="A cartoon of a rabbit with a brain coming out of a computer screen&#10;&#10;AI-generated content may be incorrect.">
            <a:extLst>
              <a:ext uri="{FF2B5EF4-FFF2-40B4-BE49-F238E27FC236}">
                <a16:creationId xmlns:a16="http://schemas.microsoft.com/office/drawing/2014/main" id="{3CCF07BA-93E1-6FB4-432E-1867A2C8A47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805" t="7045"/>
          <a:stretch>
            <a:fillRect/>
          </a:stretch>
        </p:blipFill>
        <p:spPr>
          <a:xfrm>
            <a:off x="3041820" y="1745803"/>
            <a:ext cx="2125392" cy="458036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0776A63B-A618-3813-9591-9E359553D6D2}"/>
              </a:ext>
            </a:extLst>
          </p:cNvPr>
          <p:cNvSpPr txBox="1"/>
          <p:nvPr/>
        </p:nvSpPr>
        <p:spPr>
          <a:xfrm>
            <a:off x="3637601" y="4775053"/>
            <a:ext cx="1340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MCP Server</a:t>
            </a:r>
          </a:p>
          <a:p>
            <a:pPr algn="ctr"/>
            <a:r>
              <a:rPr lang="en-US" dirty="0"/>
              <a:t>(</a:t>
            </a:r>
            <a:r>
              <a:rPr lang="en-US" u="sng" dirty="0"/>
              <a:t>your</a:t>
            </a:r>
            <a:r>
              <a:rPr lang="en-US" dirty="0"/>
              <a:t> code)</a:t>
            </a:r>
          </a:p>
        </p:txBody>
      </p:sp>
      <p:sp>
        <p:nvSpPr>
          <p:cNvPr id="18" name="Left Brace 17">
            <a:extLst>
              <a:ext uri="{FF2B5EF4-FFF2-40B4-BE49-F238E27FC236}">
                <a16:creationId xmlns:a16="http://schemas.microsoft.com/office/drawing/2014/main" id="{9056ACFA-0870-37E8-40F0-2944AF4F398C}"/>
              </a:ext>
            </a:extLst>
          </p:cNvPr>
          <p:cNvSpPr/>
          <p:nvPr/>
        </p:nvSpPr>
        <p:spPr>
          <a:xfrm>
            <a:off x="5029021" y="2199919"/>
            <a:ext cx="618186" cy="2985538"/>
          </a:xfrm>
          <a:prstGeom prst="lef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C341F1F-C73E-B07A-43F9-354EBA421212}"/>
              </a:ext>
            </a:extLst>
          </p:cNvPr>
          <p:cNvSpPr txBox="1"/>
          <p:nvPr/>
        </p:nvSpPr>
        <p:spPr>
          <a:xfrm>
            <a:off x="354114" y="2881822"/>
            <a:ext cx="2636333" cy="2308324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>
            <a:spAutoFit/>
          </a:bodyPr>
          <a:lstStyle/>
          <a:p>
            <a:r>
              <a:rPr lang="en-US" sz="1800" b="0" i="0" dirty="0">
                <a:solidFill>
                  <a:srgbClr val="836C28"/>
                </a:solidFill>
                <a:effectLst/>
                <a:latin typeface="source-code-pro"/>
              </a:rPr>
              <a:t>{</a:t>
            </a:r>
          </a:p>
          <a:p>
            <a:r>
              <a:rPr lang="en-US" sz="1800" b="0" i="0" dirty="0">
                <a:solidFill>
                  <a:srgbClr val="836C28"/>
                </a:solidFill>
                <a:effectLst/>
                <a:latin typeface="source-code-pro"/>
              </a:rPr>
              <a:t>	"name"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1800" b="0" i="0" dirty="0">
                <a:solidFill>
                  <a:srgbClr val="C41A16"/>
                </a:solidFill>
                <a:effectLst/>
                <a:latin typeface="source-code-pro"/>
              </a:rPr>
              <a:t>"add"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0" i="0" dirty="0">
                <a:solidFill>
                  <a:srgbClr val="836C28"/>
                </a:solidFill>
                <a:effectLst/>
                <a:latin typeface="source-code-pro"/>
              </a:rPr>
              <a:t>"arguments"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source-code-pro"/>
              </a:rPr>
              <a:t>: {</a:t>
            </a:r>
            <a:br>
              <a:rPr lang="en-US" sz="1800" dirty="0"/>
            </a:br>
            <a:r>
              <a:rPr lang="en-US" sz="1800" dirty="0"/>
              <a:t>		</a:t>
            </a:r>
            <a:r>
              <a:rPr lang="en-US" sz="1800" b="0" i="0" dirty="0">
                <a:solidFill>
                  <a:srgbClr val="836C28"/>
                </a:solidFill>
                <a:effectLst/>
                <a:latin typeface="source-code-pro"/>
              </a:rPr>
              <a:t>“a"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1800" b="0" i="0" dirty="0">
                <a:solidFill>
                  <a:srgbClr val="1C00CF"/>
                </a:solidFill>
                <a:effectLst/>
                <a:latin typeface="source-code-pro"/>
              </a:rPr>
              <a:t>3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source-code-pro"/>
              </a:rPr>
              <a:t>,</a:t>
            </a:r>
            <a:br>
              <a:rPr lang="en-US" sz="1800" dirty="0"/>
            </a:br>
            <a:r>
              <a:rPr lang="en-US" sz="1800" dirty="0"/>
              <a:t>		</a:t>
            </a:r>
            <a:r>
              <a:rPr lang="en-US" sz="1800" b="0" i="0" dirty="0">
                <a:solidFill>
                  <a:srgbClr val="836C28"/>
                </a:solidFill>
                <a:effectLst/>
                <a:latin typeface="source-code-pro"/>
              </a:rPr>
              <a:t>“b"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source-code-pro"/>
              </a:rPr>
              <a:t>: </a:t>
            </a:r>
            <a:r>
              <a:rPr lang="en-US" sz="1800" b="0" i="0" dirty="0">
                <a:solidFill>
                  <a:srgbClr val="1C00CF"/>
                </a:solidFill>
                <a:effectLst/>
                <a:latin typeface="source-code-pro"/>
              </a:rPr>
              <a:t>5</a:t>
            </a:r>
            <a:br>
              <a:rPr lang="en-US" sz="1800" dirty="0"/>
            </a:br>
            <a:r>
              <a:rPr lang="en-US" sz="1800" dirty="0"/>
              <a:t>	</a:t>
            </a:r>
            <a:r>
              <a:rPr lang="en-US" sz="1800" b="0" i="0" dirty="0">
                <a:solidFill>
                  <a:srgbClr val="242424"/>
                </a:solidFill>
                <a:effectLst/>
                <a:latin typeface="source-code-pro"/>
              </a:rPr>
              <a:t>}</a:t>
            </a:r>
          </a:p>
          <a:p>
            <a:r>
              <a:rPr lang="en-US" dirty="0">
                <a:solidFill>
                  <a:srgbClr val="242424"/>
                </a:solidFill>
                <a:latin typeface="source-code-pro"/>
              </a:rPr>
              <a:t>}</a:t>
            </a:r>
            <a:br>
              <a:rPr lang="en-US" sz="1800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97366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3A4B2-1690-034B-8A3D-5AF888F6F7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Testing MCP Servers with  </a:t>
            </a:r>
            <a:r>
              <a:rPr lang="en-US" sz="4000" dirty="0">
                <a:latin typeface="Courier New" panose="02070309020205020404" pitchFamily="49" charset="0"/>
                <a:cs typeface="Courier New" panose="02070309020205020404" pitchFamily="49" charset="0"/>
              </a:rPr>
              <a:t>mcp.exe dev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0232AB-698E-2CF5-C827-D53678E9E2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Testing your MCP server requires </a:t>
            </a:r>
            <a:r>
              <a:rPr lang="en-US" b="1" dirty="0"/>
              <a:t>no AI</a:t>
            </a:r>
            <a:r>
              <a:rPr lang="en-US" dirty="0"/>
              <a:t>.</a:t>
            </a:r>
          </a:p>
          <a:p>
            <a:endParaRPr lang="en-US" dirty="0"/>
          </a:p>
          <a:p>
            <a:r>
              <a:rPr lang="en-US" dirty="0"/>
              <a:t>You can use the program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mcp.exe dev </a:t>
            </a:r>
            <a:r>
              <a:rPr lang="en-US" dirty="0"/>
              <a:t>to start a Web server that generates a UI for testing your MCP server.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195618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2BE096-BED9-6CAD-06B0-EE1156664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Demos :</a:t>
            </a:r>
            <a:br>
              <a:rPr lang="en-US" dirty="0"/>
            </a:br>
            <a:r>
              <a:rPr lang="en-US" dirty="0"/>
              <a:t>1.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mcp.exe dev</a:t>
            </a:r>
            <a:br>
              <a:rPr lang="en-US" dirty="0"/>
            </a:br>
            <a:r>
              <a:rPr lang="en-US" dirty="0"/>
              <a:t>2. MCP VS Code integration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A4D71-6B18-AC09-4E8A-10E56E80C5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83735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C3A73B3-D7BB-C095-0736-928736C2B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Tips for writing MCP Servers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64D5FBF-6925-2171-0A32-B7E335DCD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8070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B9CFF6FC-F5F2-40E5-35A6-C4C4354E91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LLMs seem </a:t>
            </a:r>
            <a:r>
              <a:rPr lang="en-US" u="sng" dirty="0"/>
              <a:t>reluctant</a:t>
            </a:r>
            <a:r>
              <a:rPr lang="en-US" dirty="0"/>
              <a:t> to call tools.</a:t>
            </a:r>
            <a:br>
              <a:rPr lang="en-US" dirty="0"/>
            </a:br>
            <a:r>
              <a:rPr lang="en-US" dirty="0"/>
              <a:t>Modify your </a:t>
            </a:r>
            <a:r>
              <a:rPr lang="en-US" u="sng" dirty="0"/>
              <a:t>static prompt</a:t>
            </a:r>
            <a:r>
              <a:rPr lang="en-US" dirty="0"/>
              <a:t> note their existence.</a:t>
            </a:r>
          </a:p>
        </p:txBody>
      </p:sp>
      <p:pic>
        <p:nvPicPr>
          <p:cNvPr id="7" name="Content Placeholder 6" descr="A screenshot of a chat&#10;&#10;AI-generated content may be incorrect.">
            <a:extLst>
              <a:ext uri="{FF2B5EF4-FFF2-40B4-BE49-F238E27FC236}">
                <a16:creationId xmlns:a16="http://schemas.microsoft.com/office/drawing/2014/main" id="{513CFD58-9094-8ACF-0B67-16F90C8B51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2201" y="2161203"/>
            <a:ext cx="6167598" cy="3396029"/>
          </a:xfr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528FD305-B98C-2F13-F60A-4E55B0387FED}"/>
              </a:ext>
            </a:extLst>
          </p:cNvPr>
          <p:cNvSpPr txBox="1"/>
          <p:nvPr/>
        </p:nvSpPr>
        <p:spPr>
          <a:xfrm>
            <a:off x="3203830" y="5658415"/>
            <a:ext cx="57843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dirty="0"/>
              <a:t>Modify your IDE’s “Instructions” or “Memories” to fix this.</a:t>
            </a:r>
          </a:p>
        </p:txBody>
      </p:sp>
    </p:spTree>
    <p:extLst>
      <p:ext uri="{BB962C8B-B14F-4D97-AF65-F5344CB8AC3E}">
        <p14:creationId xmlns:p14="http://schemas.microsoft.com/office/powerpoint/2010/main" val="13949192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9644F-A064-C5FC-60DD-EEB061D613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MCP Servers should follow REST conventions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3A886-0244-0101-5569-FD072AB535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10881" cy="4351338"/>
          </a:xfrm>
        </p:spPr>
        <p:txBody>
          <a:bodyPr>
            <a:normAutofit/>
          </a:bodyPr>
          <a:lstStyle/>
          <a:p>
            <a:r>
              <a:rPr lang="en-US" dirty="0"/>
              <a:t>MCP has parallels to REST:</a:t>
            </a:r>
          </a:p>
          <a:p>
            <a:pPr lvl="1"/>
            <a:r>
              <a:rPr lang="en-US" dirty="0"/>
              <a:t>Resources: GET</a:t>
            </a:r>
          </a:p>
          <a:p>
            <a:pPr lvl="1"/>
            <a:r>
              <a:rPr lang="en-US" dirty="0"/>
              <a:t>Tools: POST</a:t>
            </a:r>
          </a:p>
          <a:p>
            <a:endParaRPr lang="en-US" dirty="0"/>
          </a:p>
          <a:p>
            <a:r>
              <a:rPr lang="en-US" b="1" dirty="0"/>
              <a:t>No side effects </a:t>
            </a:r>
            <a:r>
              <a:rPr lang="en-US" dirty="0"/>
              <a:t>from Resources</a:t>
            </a:r>
          </a:p>
          <a:p>
            <a:endParaRPr lang="en-US" dirty="0"/>
          </a:p>
          <a:p>
            <a:r>
              <a:rPr lang="en-US" dirty="0"/>
              <a:t>MCP Tools should be </a:t>
            </a:r>
            <a:r>
              <a:rPr lang="en-US" b="1" dirty="0"/>
              <a:t>idempotent</a:t>
            </a:r>
          </a:p>
          <a:p>
            <a:endParaRPr lang="en-US" b="1" dirty="0"/>
          </a:p>
          <a:p>
            <a:r>
              <a:rPr lang="en-US" dirty="0"/>
              <a:t>Agent’s Context should hold state</a:t>
            </a:r>
          </a:p>
        </p:txBody>
      </p:sp>
      <p:pic>
        <p:nvPicPr>
          <p:cNvPr id="5" name="Picture 4" descr="A screenshot of a computer code&#10;&#10;AI-generated content may be incorrect.">
            <a:extLst>
              <a:ext uri="{FF2B5EF4-FFF2-40B4-BE49-F238E27FC236}">
                <a16:creationId xmlns:a16="http://schemas.microsoft.com/office/drawing/2014/main" id="{5AC56E96-7F41-E074-8A23-459E86575BF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6082" y="1690688"/>
            <a:ext cx="4978656" cy="423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74699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4DB13F-FD66-D307-D94B-22300B0B5E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Prefer Remote servers over Local servers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1C8D2C-B510-C385-09D3-CC216B9D1C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b="1" dirty="0"/>
              <a:t>Local</a:t>
            </a:r>
            <a:r>
              <a:rPr lang="en-US" dirty="0"/>
              <a:t>: JSON sent over </a:t>
            </a:r>
            <a:r>
              <a:rPr lang="en-US" b="1" dirty="0"/>
              <a:t>Standard in</a:t>
            </a:r>
            <a:r>
              <a:rPr lang="en-US" dirty="0"/>
              <a:t>, </a:t>
            </a:r>
            <a:r>
              <a:rPr lang="en-US" b="1" dirty="0"/>
              <a:t>Standard Out</a:t>
            </a:r>
          </a:p>
          <a:p>
            <a:pPr lvl="1"/>
            <a:r>
              <a:rPr lang="en-US" b="1" dirty="0">
                <a:solidFill>
                  <a:srgbClr val="FF0000"/>
                </a:solidFill>
              </a:rPr>
              <a:t>Never print()</a:t>
            </a:r>
            <a:r>
              <a:rPr lang="en-US" b="1" dirty="0"/>
              <a:t> </a:t>
            </a:r>
            <a:r>
              <a:rPr lang="en-US" dirty="0"/>
              <a:t>on a Local MCP server</a:t>
            </a:r>
            <a:br>
              <a:rPr lang="en-US" dirty="0"/>
            </a:br>
            <a:endParaRPr lang="en-US" dirty="0"/>
          </a:p>
          <a:p>
            <a:pPr marL="457200" lvl="1" indent="0">
              <a:buNone/>
            </a:pPr>
            <a:r>
              <a:rPr lang="en-US" dirty="0" err="1"/>
              <a:t>mcp</a:t>
            </a:r>
            <a:r>
              <a:rPr lang="en-US" dirty="0"/>
              <a:t> = </a:t>
            </a:r>
            <a:r>
              <a:rPr lang="en-US" dirty="0" err="1"/>
              <a:t>FastMCP</a:t>
            </a:r>
            <a:r>
              <a:rPr lang="en-US" dirty="0"/>
              <a:t>("Demo")</a:t>
            </a:r>
          </a:p>
          <a:p>
            <a:pPr marL="0" indent="0">
              <a:buNone/>
            </a:pPr>
            <a:endParaRPr lang="en-US" b="1" dirty="0"/>
          </a:p>
          <a:p>
            <a:r>
              <a:rPr lang="en-US" b="1" dirty="0"/>
              <a:t>Remote: </a:t>
            </a:r>
            <a:r>
              <a:rPr lang="en-US" dirty="0"/>
              <a:t>JSON sent over </a:t>
            </a:r>
            <a:r>
              <a:rPr lang="en-US" b="1" dirty="0"/>
              <a:t>HTTP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en-US" dirty="0" err="1"/>
              <a:t>mcp</a:t>
            </a:r>
            <a:r>
              <a:rPr lang="en-US" dirty="0"/>
              <a:t> = </a:t>
            </a:r>
            <a:r>
              <a:rPr lang="en-US" dirty="0" err="1"/>
              <a:t>FastMCP</a:t>
            </a:r>
            <a:r>
              <a:rPr lang="en-US" dirty="0"/>
              <a:t>("Demo", </a:t>
            </a:r>
            <a:r>
              <a:rPr lang="en-US" b="1" dirty="0"/>
              <a:t>host="0.0.0.0", port="8080"</a:t>
            </a:r>
            <a:r>
              <a:rPr lang="en-US" dirty="0"/>
              <a:t>)</a:t>
            </a:r>
          </a:p>
          <a:p>
            <a:endParaRPr lang="en-US" b="1" dirty="0"/>
          </a:p>
          <a:p>
            <a:r>
              <a:rPr lang="en-US" dirty="0"/>
              <a:t>Same code otherwise.</a:t>
            </a:r>
          </a:p>
        </p:txBody>
      </p:sp>
    </p:spTree>
    <p:extLst>
      <p:ext uri="{BB962C8B-B14F-4D97-AF65-F5344CB8AC3E}">
        <p14:creationId xmlns:p14="http://schemas.microsoft.com/office/powerpoint/2010/main" val="12152684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60ACCE-4BD9-A822-620B-105286C228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2336" y="365125"/>
            <a:ext cx="10304196" cy="1325563"/>
          </a:xfrm>
        </p:spPr>
        <p:txBody>
          <a:bodyPr>
            <a:normAutofit/>
          </a:bodyPr>
          <a:lstStyle/>
          <a:p>
            <a:r>
              <a:rPr lang="en-US" sz="4000" dirty="0"/>
              <a:t>Do not leak your company’s secrets to third-party Remote MCP Servers.</a:t>
            </a:r>
          </a:p>
        </p:txBody>
      </p:sp>
      <p:pic>
        <p:nvPicPr>
          <p:cNvPr id="5" name="Content Placeholder 4" descr="A computer screen and computer servers&#10;&#10;AI-generated content may be incorrect.">
            <a:extLst>
              <a:ext uri="{FF2B5EF4-FFF2-40B4-BE49-F238E27FC236}">
                <a16:creationId xmlns:a16="http://schemas.microsoft.com/office/drawing/2014/main" id="{CE8F0B15-CED1-8C07-46F6-A7774B8CCB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3988"/>
          <a:stretch>
            <a:fillRect/>
          </a:stretch>
        </p:blipFill>
        <p:spPr>
          <a:xfrm>
            <a:off x="960275" y="1737397"/>
            <a:ext cx="10271450" cy="4090294"/>
          </a:xfr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2133FB-62F6-E4AC-C926-63F3E43480B4}"/>
              </a:ext>
            </a:extLst>
          </p:cNvPr>
          <p:cNvSpPr txBox="1"/>
          <p:nvPr/>
        </p:nvSpPr>
        <p:spPr>
          <a:xfrm>
            <a:off x="493290" y="5943600"/>
            <a:ext cx="1162619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dirty="0"/>
              <a:t>Connecting to other people’s remotely-hosted MCP Servers is a </a:t>
            </a:r>
            <a:r>
              <a:rPr lang="en-US" sz="2400" b="1" dirty="0"/>
              <a:t>massive security risk</a:t>
            </a:r>
            <a:r>
              <a:rPr lang="en-US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0996204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F0F269-B461-6128-B0C0-A5FCD692E4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Do not eval() LLM-generated code.</a:t>
            </a:r>
            <a:br>
              <a:rPr lang="en-US" dirty="0"/>
            </a:br>
            <a:r>
              <a:rPr lang="en-US" dirty="0"/>
              <a:t>Example: a command-line-interface MCP Server.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CCD399E-AEE4-8C7A-372F-02245D40BD44}"/>
              </a:ext>
            </a:extLst>
          </p:cNvPr>
          <p:cNvSpPr txBox="1"/>
          <p:nvPr/>
        </p:nvSpPr>
        <p:spPr>
          <a:xfrm>
            <a:off x="2550766" y="5962380"/>
            <a:ext cx="70904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This would defeat a major advantage of MCP over Terminal execution!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0779543-AE83-CC41-29B0-598D2ECB2D6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5128" r="51577" b="39571"/>
          <a:stretch>
            <a:fillRect/>
          </a:stretch>
        </p:blipFill>
        <p:spPr>
          <a:xfrm>
            <a:off x="7234182" y="2760395"/>
            <a:ext cx="4551544" cy="130370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EDEB5A36-765E-C603-AF30-A4F6CDDBED0E}"/>
              </a:ext>
            </a:extLst>
          </p:cNvPr>
          <p:cNvSpPr/>
          <p:nvPr/>
        </p:nvSpPr>
        <p:spPr>
          <a:xfrm>
            <a:off x="5872676" y="3108471"/>
            <a:ext cx="994180" cy="60755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0656BAC-7416-6D9D-BB51-75D75F8200A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861"/>
          <a:stretch>
            <a:fillRect/>
          </a:stretch>
        </p:blipFill>
        <p:spPr>
          <a:xfrm>
            <a:off x="405692" y="1790489"/>
            <a:ext cx="5199893" cy="3851073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EAD02C84-D406-F199-6C96-849F95BFFB46}"/>
              </a:ext>
            </a:extLst>
          </p:cNvPr>
          <p:cNvSpPr/>
          <p:nvPr/>
        </p:nvSpPr>
        <p:spPr>
          <a:xfrm>
            <a:off x="10463220" y="3639492"/>
            <a:ext cx="902126" cy="42461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D3F4E7F-E5F0-881E-BCD9-754A4FD49100}"/>
              </a:ext>
            </a:extLst>
          </p:cNvPr>
          <p:cNvSpPr txBox="1"/>
          <p:nvPr/>
        </p:nvSpPr>
        <p:spPr>
          <a:xfrm>
            <a:off x="1413246" y="4225769"/>
            <a:ext cx="5982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LLM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5AC0DC9-CEAE-DDEA-1A84-A13AA048D737}"/>
              </a:ext>
            </a:extLst>
          </p:cNvPr>
          <p:cNvSpPr txBox="1"/>
          <p:nvPr/>
        </p:nvSpPr>
        <p:spPr>
          <a:xfrm>
            <a:off x="3220252" y="4595101"/>
            <a:ext cx="18347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trike="sngStrike" dirty="0">
                <a:solidFill>
                  <a:srgbClr val="FF0000"/>
                </a:solidFill>
              </a:rPr>
              <a:t>Terminal</a:t>
            </a:r>
          </a:p>
          <a:p>
            <a:pPr algn="ctr"/>
            <a:r>
              <a:rPr lang="en-US" dirty="0"/>
              <a:t>CLI MCP Server</a:t>
            </a:r>
          </a:p>
        </p:txBody>
      </p:sp>
    </p:spTree>
    <p:extLst>
      <p:ext uri="{BB962C8B-B14F-4D97-AF65-F5344CB8AC3E}">
        <p14:creationId xmlns:p14="http://schemas.microsoft.com/office/powerpoint/2010/main" val="27744339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3C1C70-7D40-C082-49E3-EE555D435A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E004F2-BBF1-40A3-3BF0-9BA5E687D5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https://github.com/modelcontextprotocol/python-sdk/</a:t>
            </a:r>
            <a:endParaRPr lang="en-US" dirty="0"/>
          </a:p>
          <a:p>
            <a:r>
              <a:rPr lang="en-US" dirty="0">
                <a:hlinkClick r:id="rId3"/>
              </a:rPr>
              <a:t>https://code.visualstudio.com/api/extension-guides/ai/mcp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786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4657</TotalTime>
  <Words>1021</Words>
  <Application>Microsoft Office PowerPoint</Application>
  <PresentationFormat>Widescreen</PresentationFormat>
  <Paragraphs>147</Paragraphs>
  <Slides>20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Aptos</vt:lpstr>
      <vt:lpstr>Aptos Display</vt:lpstr>
      <vt:lpstr>Arial</vt:lpstr>
      <vt:lpstr>Courier New</vt:lpstr>
      <vt:lpstr>source-code-pro</vt:lpstr>
      <vt:lpstr>Office Theme</vt:lpstr>
      <vt:lpstr>Why do LLMs struggle with this task?</vt:lpstr>
      <vt:lpstr>LLMs cannot be relied on for determinism</vt:lpstr>
      <vt:lpstr>Letting LLMs run code they write is dangerous</vt:lpstr>
      <vt:lpstr>Model Context Protocol</vt:lpstr>
      <vt:lpstr>Conceptual architecture of Agent + MCP</vt:lpstr>
      <vt:lpstr>Conceptual data flow of Agent + MCP</vt:lpstr>
      <vt:lpstr>Worked example - add</vt:lpstr>
      <vt:lpstr>Agent sends Tool Descriptions with Context</vt:lpstr>
      <vt:lpstr>MCP Request object from LLM</vt:lpstr>
      <vt:lpstr>Agent Mode passes the JSON to your server. Now your code can act on it.</vt:lpstr>
      <vt:lpstr>FastMCP abstracts out the JSON and server</vt:lpstr>
      <vt:lpstr>Testing MCP Servers with  mcp.exe dev</vt:lpstr>
      <vt:lpstr>Demos : 1. mcp.exe dev 2. MCP VS Code integration</vt:lpstr>
      <vt:lpstr>Tips for writing MCP Servers</vt:lpstr>
      <vt:lpstr>LLMs seem reluctant to call tools. Modify your static prompt note their existence.</vt:lpstr>
      <vt:lpstr>MCP Servers should follow REST conventions</vt:lpstr>
      <vt:lpstr>Prefer Remote servers over Local servers</vt:lpstr>
      <vt:lpstr>Do not leak your company’s secrets to third-party Remote MCP Servers.</vt:lpstr>
      <vt:lpstr>Do not eval() LLM-generated code. Example: a command-line-interface MCP Server.</vt:lpstr>
      <vt:lpstr>Resources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Hays, Mark</dc:creator>
  <cp:lastModifiedBy>Hays, Mark</cp:lastModifiedBy>
  <cp:revision>202</cp:revision>
  <dcterms:created xsi:type="dcterms:W3CDTF">2025-10-30T16:58:02Z</dcterms:created>
  <dcterms:modified xsi:type="dcterms:W3CDTF">2025-11-05T14:45:44Z</dcterms:modified>
</cp:coreProperties>
</file>